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305" r:id="rId3"/>
    <p:sldId id="307" r:id="rId4"/>
    <p:sldId id="256" r:id="rId5"/>
    <p:sldId id="257" r:id="rId6"/>
    <p:sldId id="258" r:id="rId7"/>
    <p:sldId id="283" r:id="rId8"/>
    <p:sldId id="259" r:id="rId9"/>
    <p:sldId id="260" r:id="rId10"/>
    <p:sldId id="261" r:id="rId11"/>
    <p:sldId id="262" r:id="rId12"/>
    <p:sldId id="273" r:id="rId13"/>
    <p:sldId id="263" r:id="rId14"/>
    <p:sldId id="264" r:id="rId15"/>
    <p:sldId id="265" r:id="rId16"/>
    <p:sldId id="266" r:id="rId17"/>
    <p:sldId id="267" r:id="rId18"/>
    <p:sldId id="268" r:id="rId19"/>
    <p:sldId id="269" r:id="rId20"/>
    <p:sldId id="270" r:id="rId21"/>
    <p:sldId id="271" r:id="rId22"/>
    <p:sldId id="274" r:id="rId23"/>
    <p:sldId id="275" r:id="rId24"/>
    <p:sldId id="281" r:id="rId25"/>
    <p:sldId id="276" r:id="rId26"/>
    <p:sldId id="277" r:id="rId27"/>
    <p:sldId id="278" r:id="rId28"/>
    <p:sldId id="279" r:id="rId29"/>
    <p:sldId id="280" r:id="rId30"/>
    <p:sldId id="282" r:id="rId31"/>
    <p:sldId id="286" r:id="rId32"/>
    <p:sldId id="289" r:id="rId33"/>
    <p:sldId id="285" r:id="rId34"/>
    <p:sldId id="288" r:id="rId35"/>
    <p:sldId id="287" r:id="rId36"/>
    <p:sldId id="284" r:id="rId37"/>
    <p:sldId id="292" r:id="rId38"/>
    <p:sldId id="293" r:id="rId39"/>
    <p:sldId id="290" r:id="rId40"/>
    <p:sldId id="291" r:id="rId41"/>
    <p:sldId id="294" r:id="rId42"/>
    <p:sldId id="296" r:id="rId43"/>
    <p:sldId id="295" r:id="rId44"/>
    <p:sldId id="297" r:id="rId45"/>
    <p:sldId id="298" r:id="rId46"/>
    <p:sldId id="300" r:id="rId47"/>
    <p:sldId id="302" r:id="rId48"/>
    <p:sldId id="301" r:id="rId49"/>
    <p:sldId id="303" r:id="rId50"/>
    <p:sldId id="310" r:id="rId51"/>
  </p:sldIdLst>
  <p:sldSz cx="9144000" cy="6858000" type="screen4x3"/>
  <p:notesSz cx="7559675" cy="106918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82" d="100"/>
          <a:sy n="82" d="100"/>
        </p:scale>
        <p:origin x="143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eus Carvalho Viana" userId="f7f9631b-878c-40a2-943d-db932d98dd22" providerId="ADAL" clId="{5E203D04-B0BA-4E7D-9F35-C9D676085ED0}"/>
    <pc:docChg chg="undo custSel addSld delSld modSld sldOrd">
      <pc:chgData name="Matheus Carvalho Viana" userId="f7f9631b-878c-40a2-943d-db932d98dd22" providerId="ADAL" clId="{5E203D04-B0BA-4E7D-9F35-C9D676085ED0}" dt="2023-08-04T18:23:54.491" v="1592" actId="20577"/>
      <pc:docMkLst>
        <pc:docMk/>
      </pc:docMkLst>
      <pc:sldChg chg="modSp mod">
        <pc:chgData name="Matheus Carvalho Viana" userId="f7f9631b-878c-40a2-943d-db932d98dd22" providerId="ADAL" clId="{5E203D04-B0BA-4E7D-9F35-C9D676085ED0}" dt="2023-08-04T18:19:51.210" v="1491" actId="20577"/>
        <pc:sldMkLst>
          <pc:docMk/>
          <pc:sldMk cId="0" sldId="258"/>
        </pc:sldMkLst>
        <pc:spChg chg="mod">
          <ac:chgData name="Matheus Carvalho Viana" userId="f7f9631b-878c-40a2-943d-db932d98dd22" providerId="ADAL" clId="{5E203D04-B0BA-4E7D-9F35-C9D676085ED0}" dt="2023-08-04T18:19:51.210" v="1491" actId="20577"/>
          <ac:spMkLst>
            <pc:docMk/>
            <pc:sldMk cId="0" sldId="258"/>
            <ac:spMk id="84" creationId="{00000000-0000-0000-0000-000000000000}"/>
          </ac:spMkLst>
        </pc:spChg>
      </pc:sldChg>
      <pc:sldChg chg="add del">
        <pc:chgData name="Matheus Carvalho Viana" userId="f7f9631b-878c-40a2-943d-db932d98dd22" providerId="ADAL" clId="{5E203D04-B0BA-4E7D-9F35-C9D676085ED0}" dt="2023-08-04T18:06:52.200" v="1029" actId="47"/>
        <pc:sldMkLst>
          <pc:docMk/>
          <pc:sldMk cId="464447955" sldId="273"/>
        </pc:sldMkLst>
      </pc:sldChg>
      <pc:sldChg chg="new del">
        <pc:chgData name="Matheus Carvalho Viana" userId="f7f9631b-878c-40a2-943d-db932d98dd22" providerId="ADAL" clId="{5E203D04-B0BA-4E7D-9F35-C9D676085ED0}" dt="2023-08-04T17:47:31.200" v="1" actId="47"/>
        <pc:sldMkLst>
          <pc:docMk/>
          <pc:sldMk cId="2580470137" sldId="304"/>
        </pc:sldMkLst>
      </pc:sldChg>
      <pc:sldChg chg="modSp new del mod chgLayout">
        <pc:chgData name="Matheus Carvalho Viana" userId="f7f9631b-878c-40a2-943d-db932d98dd22" providerId="ADAL" clId="{5E203D04-B0BA-4E7D-9F35-C9D676085ED0}" dt="2023-08-04T17:58:41.604" v="922" actId="47"/>
        <pc:sldMkLst>
          <pc:docMk/>
          <pc:sldMk cId="2890149256" sldId="304"/>
        </pc:sldMkLst>
        <pc:spChg chg="mod ord">
          <ac:chgData name="Matheus Carvalho Viana" userId="f7f9631b-878c-40a2-943d-db932d98dd22" providerId="ADAL" clId="{5E203D04-B0BA-4E7D-9F35-C9D676085ED0}" dt="2023-08-04T17:57:36.946" v="898" actId="700"/>
          <ac:spMkLst>
            <pc:docMk/>
            <pc:sldMk cId="2890149256" sldId="304"/>
            <ac:spMk id="2" creationId="{3911B088-D171-2D1F-7FB5-31C2307699EF}"/>
          </ac:spMkLst>
        </pc:spChg>
        <pc:spChg chg="mod">
          <ac:chgData name="Matheus Carvalho Viana" userId="f7f9631b-878c-40a2-943d-db932d98dd22" providerId="ADAL" clId="{5E203D04-B0BA-4E7D-9F35-C9D676085ED0}" dt="2023-08-04T17:57:36.946" v="898" actId="700"/>
          <ac:spMkLst>
            <pc:docMk/>
            <pc:sldMk cId="2890149256" sldId="304"/>
            <ac:spMk id="3" creationId="{E4848CB8-E8CC-3773-1B33-B9631CA170AE}"/>
          </ac:spMkLst>
        </pc:spChg>
      </pc:sldChg>
      <pc:sldChg chg="modSp add mod ord">
        <pc:chgData name="Matheus Carvalho Viana" userId="f7f9631b-878c-40a2-943d-db932d98dd22" providerId="ADAL" clId="{5E203D04-B0BA-4E7D-9F35-C9D676085ED0}" dt="2023-08-04T18:23:54.491" v="1592" actId="20577"/>
        <pc:sldMkLst>
          <pc:docMk/>
          <pc:sldMk cId="2304757884" sldId="305"/>
        </pc:sldMkLst>
        <pc:spChg chg="mod">
          <ac:chgData name="Matheus Carvalho Viana" userId="f7f9631b-878c-40a2-943d-db932d98dd22" providerId="ADAL" clId="{5E203D04-B0BA-4E7D-9F35-C9D676085ED0}" dt="2023-08-04T18:17:57.902" v="1437" actId="20577"/>
          <ac:spMkLst>
            <pc:docMk/>
            <pc:sldMk cId="2304757884" sldId="305"/>
            <ac:spMk id="89" creationId="{00000000-0000-0000-0000-000000000000}"/>
          </ac:spMkLst>
        </pc:spChg>
        <pc:spChg chg="mod">
          <ac:chgData name="Matheus Carvalho Viana" userId="f7f9631b-878c-40a2-943d-db932d98dd22" providerId="ADAL" clId="{5E203D04-B0BA-4E7D-9F35-C9D676085ED0}" dt="2023-08-04T18:23:54.491" v="1592" actId="20577"/>
          <ac:spMkLst>
            <pc:docMk/>
            <pc:sldMk cId="2304757884" sldId="305"/>
            <ac:spMk id="90" creationId="{00000000-0000-0000-0000-000000000000}"/>
          </ac:spMkLst>
        </pc:spChg>
      </pc:sldChg>
      <pc:sldChg chg="addSp delSp modSp new del mod ord chgLayout">
        <pc:chgData name="Matheus Carvalho Viana" userId="f7f9631b-878c-40a2-943d-db932d98dd22" providerId="ADAL" clId="{5E203D04-B0BA-4E7D-9F35-C9D676085ED0}" dt="2023-08-04T18:17:44.516" v="1415" actId="47"/>
        <pc:sldMkLst>
          <pc:docMk/>
          <pc:sldMk cId="3117248311" sldId="306"/>
        </pc:sldMkLst>
        <pc:spChg chg="mod ord">
          <ac:chgData name="Matheus Carvalho Viana" userId="f7f9631b-878c-40a2-943d-db932d98dd22" providerId="ADAL" clId="{5E203D04-B0BA-4E7D-9F35-C9D676085ED0}" dt="2023-08-04T18:17:39.930" v="1413" actId="700"/>
          <ac:spMkLst>
            <pc:docMk/>
            <pc:sldMk cId="3117248311" sldId="306"/>
            <ac:spMk id="2" creationId="{A10B8C0E-4B31-6B0A-4EBA-7C99A15976C8}"/>
          </ac:spMkLst>
        </pc:spChg>
        <pc:spChg chg="del">
          <ac:chgData name="Matheus Carvalho Viana" userId="f7f9631b-878c-40a2-943d-db932d98dd22" providerId="ADAL" clId="{5E203D04-B0BA-4E7D-9F35-C9D676085ED0}" dt="2023-08-04T18:17:39.930" v="1413" actId="700"/>
          <ac:spMkLst>
            <pc:docMk/>
            <pc:sldMk cId="3117248311" sldId="306"/>
            <ac:spMk id="3" creationId="{B248C7E7-9320-5C88-D17A-58051DECA998}"/>
          </ac:spMkLst>
        </pc:spChg>
        <pc:spChg chg="add mod">
          <ac:chgData name="Matheus Carvalho Viana" userId="f7f9631b-878c-40a2-943d-db932d98dd22" providerId="ADAL" clId="{5E203D04-B0BA-4E7D-9F35-C9D676085ED0}" dt="2023-08-04T18:17:39.930" v="1413" actId="700"/>
          <ac:spMkLst>
            <pc:docMk/>
            <pc:sldMk cId="3117248311" sldId="306"/>
            <ac:spMk id="4" creationId="{38D7A3CA-CB44-3C19-29BA-3693230B4718}"/>
          </ac:spMkLst>
        </pc:spChg>
      </pc:sldChg>
      <pc:sldChg chg="add">
        <pc:chgData name="Matheus Carvalho Viana" userId="f7f9631b-878c-40a2-943d-db932d98dd22" providerId="ADAL" clId="{5E203D04-B0BA-4E7D-9F35-C9D676085ED0}" dt="2023-08-04T18:17:43.018" v="1414" actId="2890"/>
        <pc:sldMkLst>
          <pc:docMk/>
          <pc:sldMk cId="3269792108" sldId="307"/>
        </pc:sldMkLst>
      </pc:sldChg>
      <pc:sldChg chg="modSp add del mod modClrScheme chgLayout">
        <pc:chgData name="Matheus Carvalho Viana" userId="f7f9631b-878c-40a2-943d-db932d98dd22" providerId="ADAL" clId="{5E203D04-B0BA-4E7D-9F35-C9D676085ED0}" dt="2023-08-04T18:21:28.278" v="1564" actId="47"/>
        <pc:sldMkLst>
          <pc:docMk/>
          <pc:sldMk cId="1103346278" sldId="308"/>
        </pc:sldMkLst>
        <pc:spChg chg="mod ord">
          <ac:chgData name="Matheus Carvalho Viana" userId="f7f9631b-878c-40a2-943d-db932d98dd22" providerId="ADAL" clId="{5E203D04-B0BA-4E7D-9F35-C9D676085ED0}" dt="2023-08-04T18:20:35.620" v="1493" actId="700"/>
          <ac:spMkLst>
            <pc:docMk/>
            <pc:sldMk cId="1103346278" sldId="308"/>
            <ac:spMk id="2" creationId="{00000000-0000-0000-0000-000000000000}"/>
          </ac:spMkLst>
        </pc:spChg>
        <pc:spChg chg="mod">
          <ac:chgData name="Matheus Carvalho Viana" userId="f7f9631b-878c-40a2-943d-db932d98dd22" providerId="ADAL" clId="{5E203D04-B0BA-4E7D-9F35-C9D676085ED0}" dt="2023-08-04T18:20:35.620" v="1493" actId="700"/>
          <ac:spMkLst>
            <pc:docMk/>
            <pc:sldMk cId="1103346278" sldId="308"/>
            <ac:spMk id="3" creationId="{00000000-0000-0000-0000-000000000000}"/>
          </ac:spMkLst>
        </pc:spChg>
        <pc:spChg chg="mod ord">
          <ac:chgData name="Matheus Carvalho Viana" userId="f7f9631b-878c-40a2-943d-db932d98dd22" providerId="ADAL" clId="{5E203D04-B0BA-4E7D-9F35-C9D676085ED0}" dt="2023-08-04T18:20:35.620" v="1493" actId="700"/>
          <ac:spMkLst>
            <pc:docMk/>
            <pc:sldMk cId="1103346278" sldId="308"/>
            <ac:spMk id="4" creationId="{00000000-0000-0000-0000-000000000000}"/>
          </ac:spMkLst>
        </pc:spChg>
      </pc:sldChg>
      <pc:sldChg chg="modSp new del mod">
        <pc:chgData name="Matheus Carvalho Viana" userId="f7f9631b-878c-40a2-943d-db932d98dd22" providerId="ADAL" clId="{5E203D04-B0BA-4E7D-9F35-C9D676085ED0}" dt="2023-08-04T18:21:22.838" v="1563" actId="47"/>
        <pc:sldMkLst>
          <pc:docMk/>
          <pc:sldMk cId="2812629416" sldId="309"/>
        </pc:sldMkLst>
        <pc:spChg chg="mod">
          <ac:chgData name="Matheus Carvalho Viana" userId="f7f9631b-878c-40a2-943d-db932d98dd22" providerId="ADAL" clId="{5E203D04-B0BA-4E7D-9F35-C9D676085ED0}" dt="2023-08-04T18:20:52.868" v="1518" actId="20577"/>
          <ac:spMkLst>
            <pc:docMk/>
            <pc:sldMk cId="2812629416" sldId="309"/>
            <ac:spMk id="2" creationId="{DD4DA7AE-E06E-B7A7-413A-A994CF1E7DE0}"/>
          </ac:spMkLst>
        </pc:spChg>
      </pc:sldChg>
      <pc:sldChg chg="addSp modSp add mod">
        <pc:chgData name="Matheus Carvalho Viana" userId="f7f9631b-878c-40a2-943d-db932d98dd22" providerId="ADAL" clId="{5E203D04-B0BA-4E7D-9F35-C9D676085ED0}" dt="2023-08-04T18:23:05.133" v="1577" actId="1076"/>
        <pc:sldMkLst>
          <pc:docMk/>
          <pc:sldMk cId="3978703482" sldId="310"/>
        </pc:sldMkLst>
        <pc:spChg chg="mod">
          <ac:chgData name="Matheus Carvalho Viana" userId="f7f9631b-878c-40a2-943d-db932d98dd22" providerId="ADAL" clId="{5E203D04-B0BA-4E7D-9F35-C9D676085ED0}" dt="2023-08-04T18:21:18.284" v="1562" actId="20577"/>
          <ac:spMkLst>
            <pc:docMk/>
            <pc:sldMk cId="3978703482" sldId="310"/>
            <ac:spMk id="89" creationId="{00000000-0000-0000-0000-000000000000}"/>
          </ac:spMkLst>
        </pc:spChg>
        <pc:spChg chg="mod">
          <ac:chgData name="Matheus Carvalho Viana" userId="f7f9631b-878c-40a2-943d-db932d98dd22" providerId="ADAL" clId="{5E203D04-B0BA-4E7D-9F35-C9D676085ED0}" dt="2023-08-04T18:22:55.755" v="1575" actId="6549"/>
          <ac:spMkLst>
            <pc:docMk/>
            <pc:sldMk cId="3978703482" sldId="310"/>
            <ac:spMk id="90" creationId="{00000000-0000-0000-0000-000000000000}"/>
          </ac:spMkLst>
        </pc:spChg>
        <pc:picChg chg="add mod">
          <ac:chgData name="Matheus Carvalho Viana" userId="f7f9631b-878c-40a2-943d-db932d98dd22" providerId="ADAL" clId="{5E203D04-B0BA-4E7D-9F35-C9D676085ED0}" dt="2023-08-04T18:23:05.133" v="1577" actId="1076"/>
          <ac:picMkLst>
            <pc:docMk/>
            <pc:sldMk cId="3978703482" sldId="310"/>
            <ac:picMk id="2" creationId="{8B20A568-015C-9A47-D0E5-7819AE76C8A0}"/>
          </ac:picMkLst>
        </pc:picChg>
      </pc:sldChg>
    </pc:docChg>
  </pc:docChgLst>
  <pc:docChgLst>
    <pc:chgData name="Matheus Carvalho Viana" userId="f7f9631b-878c-40a2-943d-db932d98dd22" providerId="ADAL" clId="{4B76FA9D-D81F-4141-B57E-135CDDAEAA62}"/>
    <pc:docChg chg="custSel modSld">
      <pc:chgData name="Matheus Carvalho Viana" userId="f7f9631b-878c-40a2-943d-db932d98dd22" providerId="ADAL" clId="{4B76FA9D-D81F-4141-B57E-135CDDAEAA62}" dt="2023-12-01T18:33:33.924" v="0" actId="313"/>
      <pc:docMkLst>
        <pc:docMk/>
      </pc:docMkLst>
      <pc:sldChg chg="modSp mod">
        <pc:chgData name="Matheus Carvalho Viana" userId="f7f9631b-878c-40a2-943d-db932d98dd22" providerId="ADAL" clId="{4B76FA9D-D81F-4141-B57E-135CDDAEAA62}" dt="2023-12-01T18:33:33.924" v="0" actId="313"/>
        <pc:sldMkLst>
          <pc:docMk/>
          <pc:sldMk cId="3269792108" sldId="307"/>
        </pc:sldMkLst>
        <pc:spChg chg="mod">
          <ac:chgData name="Matheus Carvalho Viana" userId="f7f9631b-878c-40a2-943d-db932d98dd22" providerId="ADAL" clId="{4B76FA9D-D81F-4141-B57E-135CDDAEAA62}" dt="2023-12-01T18:33:33.924" v="0" actId="313"/>
          <ac:spMkLst>
            <pc:docMk/>
            <pc:sldMk cId="3269792108" sldId="307"/>
            <ac:spMk id="90"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6" name="PlaceHolder 2"/>
          <p:cNvSpPr>
            <a:spLocks noGrp="1"/>
          </p:cNvSpPr>
          <p:nvPr>
            <p:ph type="subTitle"/>
          </p:nvPr>
        </p:nvSpPr>
        <p:spPr>
          <a:xfrm>
            <a:off x="139680" y="1625760"/>
            <a:ext cx="8851680" cy="523188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8" name="PlaceHolder 2"/>
          <p:cNvSpPr>
            <a:spLocks noGrp="1"/>
          </p:cNvSpPr>
          <p:nvPr>
            <p:ph type="body"/>
          </p:nvPr>
        </p:nvSpPr>
        <p:spPr>
          <a:xfrm>
            <a:off x="139680" y="1625760"/>
            <a:ext cx="88516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10" name="PlaceHolder 2"/>
          <p:cNvSpPr>
            <a:spLocks noGrp="1"/>
          </p:cNvSpPr>
          <p:nvPr>
            <p:ph type="body"/>
          </p:nvPr>
        </p:nvSpPr>
        <p:spPr>
          <a:xfrm>
            <a:off x="139680" y="1625760"/>
            <a:ext cx="43192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11" name="PlaceHolder 3"/>
          <p:cNvSpPr>
            <a:spLocks noGrp="1"/>
          </p:cNvSpPr>
          <p:nvPr>
            <p:ph type="body"/>
          </p:nvPr>
        </p:nvSpPr>
        <p:spPr>
          <a:xfrm>
            <a:off x="4675320" y="1625760"/>
            <a:ext cx="43192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39680" y="149400"/>
            <a:ext cx="8851680" cy="614412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15" name="PlaceHolder 2"/>
          <p:cNvSpPr>
            <a:spLocks noGrp="1"/>
          </p:cNvSpPr>
          <p:nvPr>
            <p:ph type="body"/>
          </p:nvPr>
        </p:nvSpPr>
        <p:spPr>
          <a:xfrm>
            <a:off x="13968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16" name="PlaceHolder 3"/>
          <p:cNvSpPr>
            <a:spLocks noGrp="1"/>
          </p:cNvSpPr>
          <p:nvPr>
            <p:ph type="body"/>
          </p:nvPr>
        </p:nvSpPr>
        <p:spPr>
          <a:xfrm>
            <a:off x="139680" y="435888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17" name="PlaceHolder 4"/>
          <p:cNvSpPr>
            <a:spLocks noGrp="1"/>
          </p:cNvSpPr>
          <p:nvPr>
            <p:ph type="body"/>
          </p:nvPr>
        </p:nvSpPr>
        <p:spPr>
          <a:xfrm>
            <a:off x="4675320" y="1625760"/>
            <a:ext cx="43192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19" name="PlaceHolder 2"/>
          <p:cNvSpPr>
            <a:spLocks noGrp="1"/>
          </p:cNvSpPr>
          <p:nvPr>
            <p:ph type="body"/>
          </p:nvPr>
        </p:nvSpPr>
        <p:spPr>
          <a:xfrm>
            <a:off x="139680" y="1625760"/>
            <a:ext cx="43192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20" name="PlaceHolder 3"/>
          <p:cNvSpPr>
            <a:spLocks noGrp="1"/>
          </p:cNvSpPr>
          <p:nvPr>
            <p:ph type="body"/>
          </p:nvPr>
        </p:nvSpPr>
        <p:spPr>
          <a:xfrm>
            <a:off x="467532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21" name="PlaceHolder 4"/>
          <p:cNvSpPr>
            <a:spLocks noGrp="1"/>
          </p:cNvSpPr>
          <p:nvPr>
            <p:ph type="body"/>
          </p:nvPr>
        </p:nvSpPr>
        <p:spPr>
          <a:xfrm>
            <a:off x="4675320" y="435888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23" name="PlaceHolder 2"/>
          <p:cNvSpPr>
            <a:spLocks noGrp="1"/>
          </p:cNvSpPr>
          <p:nvPr>
            <p:ph type="body"/>
          </p:nvPr>
        </p:nvSpPr>
        <p:spPr>
          <a:xfrm>
            <a:off x="13968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24" name="PlaceHolder 3"/>
          <p:cNvSpPr>
            <a:spLocks noGrp="1"/>
          </p:cNvSpPr>
          <p:nvPr>
            <p:ph type="body"/>
          </p:nvPr>
        </p:nvSpPr>
        <p:spPr>
          <a:xfrm>
            <a:off x="467532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25" name="PlaceHolder 4"/>
          <p:cNvSpPr>
            <a:spLocks noGrp="1"/>
          </p:cNvSpPr>
          <p:nvPr>
            <p:ph type="body"/>
          </p:nvPr>
        </p:nvSpPr>
        <p:spPr>
          <a:xfrm>
            <a:off x="139680" y="4358880"/>
            <a:ext cx="88516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27" name="PlaceHolder 2"/>
          <p:cNvSpPr>
            <a:spLocks noGrp="1"/>
          </p:cNvSpPr>
          <p:nvPr>
            <p:ph type="body"/>
          </p:nvPr>
        </p:nvSpPr>
        <p:spPr>
          <a:xfrm>
            <a:off x="139680" y="1625760"/>
            <a:ext cx="88516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28" name="PlaceHolder 3"/>
          <p:cNvSpPr>
            <a:spLocks noGrp="1"/>
          </p:cNvSpPr>
          <p:nvPr>
            <p:ph type="body"/>
          </p:nvPr>
        </p:nvSpPr>
        <p:spPr>
          <a:xfrm>
            <a:off x="139680" y="4358880"/>
            <a:ext cx="88516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30" name="PlaceHolder 2"/>
          <p:cNvSpPr>
            <a:spLocks noGrp="1"/>
          </p:cNvSpPr>
          <p:nvPr>
            <p:ph type="body"/>
          </p:nvPr>
        </p:nvSpPr>
        <p:spPr>
          <a:xfrm>
            <a:off x="13968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31" name="PlaceHolder 3"/>
          <p:cNvSpPr>
            <a:spLocks noGrp="1"/>
          </p:cNvSpPr>
          <p:nvPr>
            <p:ph type="body"/>
          </p:nvPr>
        </p:nvSpPr>
        <p:spPr>
          <a:xfrm>
            <a:off x="467532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32" name="PlaceHolder 4"/>
          <p:cNvSpPr>
            <a:spLocks noGrp="1"/>
          </p:cNvSpPr>
          <p:nvPr>
            <p:ph type="body"/>
          </p:nvPr>
        </p:nvSpPr>
        <p:spPr>
          <a:xfrm>
            <a:off x="4675320" y="435888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33" name="PlaceHolder 5"/>
          <p:cNvSpPr>
            <a:spLocks noGrp="1"/>
          </p:cNvSpPr>
          <p:nvPr>
            <p:ph type="body"/>
          </p:nvPr>
        </p:nvSpPr>
        <p:spPr>
          <a:xfrm>
            <a:off x="139680" y="435888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35" name="PlaceHolder 2"/>
          <p:cNvSpPr>
            <a:spLocks noGrp="1"/>
          </p:cNvSpPr>
          <p:nvPr>
            <p:ph type="body"/>
          </p:nvPr>
        </p:nvSpPr>
        <p:spPr>
          <a:xfrm>
            <a:off x="139680" y="1625760"/>
            <a:ext cx="88516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36" name="PlaceHolder 3"/>
          <p:cNvSpPr>
            <a:spLocks noGrp="1"/>
          </p:cNvSpPr>
          <p:nvPr>
            <p:ph type="body"/>
          </p:nvPr>
        </p:nvSpPr>
        <p:spPr>
          <a:xfrm>
            <a:off x="139680" y="1625760"/>
            <a:ext cx="88516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pic>
        <p:nvPicPr>
          <p:cNvPr id="37" name="Imagem 36"/>
          <p:cNvPicPr/>
          <p:nvPr/>
        </p:nvPicPr>
        <p:blipFill>
          <a:blip r:embed="rId2"/>
          <a:stretch/>
        </p:blipFill>
        <p:spPr>
          <a:xfrm>
            <a:off x="1287000" y="1625400"/>
            <a:ext cx="6557040" cy="5231880"/>
          </a:xfrm>
          <a:prstGeom prst="rect">
            <a:avLst/>
          </a:prstGeom>
          <a:ln>
            <a:noFill/>
          </a:ln>
        </p:spPr>
      </p:pic>
      <p:pic>
        <p:nvPicPr>
          <p:cNvPr id="38" name="Imagem 37"/>
          <p:cNvPicPr/>
          <p:nvPr/>
        </p:nvPicPr>
        <p:blipFill>
          <a:blip r:embed="rId2"/>
          <a:stretch/>
        </p:blipFill>
        <p:spPr>
          <a:xfrm>
            <a:off x="1287000" y="1625400"/>
            <a:ext cx="6557040" cy="52318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45" name="PlaceHolder 2"/>
          <p:cNvSpPr>
            <a:spLocks noGrp="1"/>
          </p:cNvSpPr>
          <p:nvPr>
            <p:ph type="subTitle"/>
          </p:nvPr>
        </p:nvSpPr>
        <p:spPr>
          <a:xfrm>
            <a:off x="139680" y="1625760"/>
            <a:ext cx="8851680" cy="523188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47" name="PlaceHolder 2"/>
          <p:cNvSpPr>
            <a:spLocks noGrp="1"/>
          </p:cNvSpPr>
          <p:nvPr>
            <p:ph type="body"/>
          </p:nvPr>
        </p:nvSpPr>
        <p:spPr>
          <a:xfrm>
            <a:off x="139680" y="1625760"/>
            <a:ext cx="88516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49" name="PlaceHolder 2"/>
          <p:cNvSpPr>
            <a:spLocks noGrp="1"/>
          </p:cNvSpPr>
          <p:nvPr>
            <p:ph type="body"/>
          </p:nvPr>
        </p:nvSpPr>
        <p:spPr>
          <a:xfrm>
            <a:off x="139680" y="1625760"/>
            <a:ext cx="43192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50" name="PlaceHolder 3"/>
          <p:cNvSpPr>
            <a:spLocks noGrp="1"/>
          </p:cNvSpPr>
          <p:nvPr>
            <p:ph type="body"/>
          </p:nvPr>
        </p:nvSpPr>
        <p:spPr>
          <a:xfrm>
            <a:off x="4675320" y="1625760"/>
            <a:ext cx="43192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139680" y="149400"/>
            <a:ext cx="8851680" cy="614412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54" name="PlaceHolder 2"/>
          <p:cNvSpPr>
            <a:spLocks noGrp="1"/>
          </p:cNvSpPr>
          <p:nvPr>
            <p:ph type="body"/>
          </p:nvPr>
        </p:nvSpPr>
        <p:spPr>
          <a:xfrm>
            <a:off x="13968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55" name="PlaceHolder 3"/>
          <p:cNvSpPr>
            <a:spLocks noGrp="1"/>
          </p:cNvSpPr>
          <p:nvPr>
            <p:ph type="body"/>
          </p:nvPr>
        </p:nvSpPr>
        <p:spPr>
          <a:xfrm>
            <a:off x="139680" y="435888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56" name="PlaceHolder 4"/>
          <p:cNvSpPr>
            <a:spLocks noGrp="1"/>
          </p:cNvSpPr>
          <p:nvPr>
            <p:ph type="body"/>
          </p:nvPr>
        </p:nvSpPr>
        <p:spPr>
          <a:xfrm>
            <a:off x="4675320" y="1625760"/>
            <a:ext cx="43192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58" name="PlaceHolder 2"/>
          <p:cNvSpPr>
            <a:spLocks noGrp="1"/>
          </p:cNvSpPr>
          <p:nvPr>
            <p:ph type="body"/>
          </p:nvPr>
        </p:nvSpPr>
        <p:spPr>
          <a:xfrm>
            <a:off x="139680" y="1625760"/>
            <a:ext cx="43192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59" name="PlaceHolder 3"/>
          <p:cNvSpPr>
            <a:spLocks noGrp="1"/>
          </p:cNvSpPr>
          <p:nvPr>
            <p:ph type="body"/>
          </p:nvPr>
        </p:nvSpPr>
        <p:spPr>
          <a:xfrm>
            <a:off x="467532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60" name="PlaceHolder 4"/>
          <p:cNvSpPr>
            <a:spLocks noGrp="1"/>
          </p:cNvSpPr>
          <p:nvPr>
            <p:ph type="body"/>
          </p:nvPr>
        </p:nvSpPr>
        <p:spPr>
          <a:xfrm>
            <a:off x="4675320" y="435888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62" name="PlaceHolder 2"/>
          <p:cNvSpPr>
            <a:spLocks noGrp="1"/>
          </p:cNvSpPr>
          <p:nvPr>
            <p:ph type="body"/>
          </p:nvPr>
        </p:nvSpPr>
        <p:spPr>
          <a:xfrm>
            <a:off x="13968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63" name="PlaceHolder 3"/>
          <p:cNvSpPr>
            <a:spLocks noGrp="1"/>
          </p:cNvSpPr>
          <p:nvPr>
            <p:ph type="body"/>
          </p:nvPr>
        </p:nvSpPr>
        <p:spPr>
          <a:xfrm>
            <a:off x="467532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64" name="PlaceHolder 4"/>
          <p:cNvSpPr>
            <a:spLocks noGrp="1"/>
          </p:cNvSpPr>
          <p:nvPr>
            <p:ph type="body"/>
          </p:nvPr>
        </p:nvSpPr>
        <p:spPr>
          <a:xfrm>
            <a:off x="139680" y="4358880"/>
            <a:ext cx="88516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66" name="PlaceHolder 2"/>
          <p:cNvSpPr>
            <a:spLocks noGrp="1"/>
          </p:cNvSpPr>
          <p:nvPr>
            <p:ph type="body"/>
          </p:nvPr>
        </p:nvSpPr>
        <p:spPr>
          <a:xfrm>
            <a:off x="139680" y="1625760"/>
            <a:ext cx="88516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67" name="PlaceHolder 3"/>
          <p:cNvSpPr>
            <a:spLocks noGrp="1"/>
          </p:cNvSpPr>
          <p:nvPr>
            <p:ph type="body"/>
          </p:nvPr>
        </p:nvSpPr>
        <p:spPr>
          <a:xfrm>
            <a:off x="139680" y="4358880"/>
            <a:ext cx="88516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69" name="PlaceHolder 2"/>
          <p:cNvSpPr>
            <a:spLocks noGrp="1"/>
          </p:cNvSpPr>
          <p:nvPr>
            <p:ph type="body"/>
          </p:nvPr>
        </p:nvSpPr>
        <p:spPr>
          <a:xfrm>
            <a:off x="13968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70" name="PlaceHolder 3"/>
          <p:cNvSpPr>
            <a:spLocks noGrp="1"/>
          </p:cNvSpPr>
          <p:nvPr>
            <p:ph type="body"/>
          </p:nvPr>
        </p:nvSpPr>
        <p:spPr>
          <a:xfrm>
            <a:off x="4675320" y="162576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71" name="PlaceHolder 4"/>
          <p:cNvSpPr>
            <a:spLocks noGrp="1"/>
          </p:cNvSpPr>
          <p:nvPr>
            <p:ph type="body"/>
          </p:nvPr>
        </p:nvSpPr>
        <p:spPr>
          <a:xfrm>
            <a:off x="4675320" y="435888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72" name="PlaceHolder 5"/>
          <p:cNvSpPr>
            <a:spLocks noGrp="1"/>
          </p:cNvSpPr>
          <p:nvPr>
            <p:ph type="body"/>
          </p:nvPr>
        </p:nvSpPr>
        <p:spPr>
          <a:xfrm>
            <a:off x="139680" y="4358880"/>
            <a:ext cx="4319280" cy="249552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139680" y="149400"/>
            <a:ext cx="8851680" cy="1325160"/>
          </a:xfrm>
          <a:prstGeom prst="rect">
            <a:avLst/>
          </a:prstGeom>
        </p:spPr>
        <p:txBody>
          <a:bodyPr lIns="0" tIns="0" rIns="0" bIns="0" anchor="ctr"/>
          <a:lstStyle/>
          <a:p>
            <a:endParaRPr lang="pt-BR" sz="1800" b="0" strike="noStrike" spc="-1">
              <a:solidFill>
                <a:srgbClr val="000000"/>
              </a:solidFill>
              <a:uFill>
                <a:solidFill>
                  <a:srgbClr val="FFFFFF"/>
                </a:solidFill>
              </a:uFill>
              <a:latin typeface="Calibri"/>
            </a:endParaRPr>
          </a:p>
        </p:txBody>
      </p:sp>
      <p:sp>
        <p:nvSpPr>
          <p:cNvPr id="74" name="PlaceHolder 2"/>
          <p:cNvSpPr>
            <a:spLocks noGrp="1"/>
          </p:cNvSpPr>
          <p:nvPr>
            <p:ph type="body"/>
          </p:nvPr>
        </p:nvSpPr>
        <p:spPr>
          <a:xfrm>
            <a:off x="139680" y="1625760"/>
            <a:ext cx="88516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sp>
        <p:nvSpPr>
          <p:cNvPr id="75" name="PlaceHolder 3"/>
          <p:cNvSpPr>
            <a:spLocks noGrp="1"/>
          </p:cNvSpPr>
          <p:nvPr>
            <p:ph type="body"/>
          </p:nvPr>
        </p:nvSpPr>
        <p:spPr>
          <a:xfrm>
            <a:off x="139680" y="1625760"/>
            <a:ext cx="8851680" cy="5231880"/>
          </a:xfrm>
          <a:prstGeom prst="rect">
            <a:avLst/>
          </a:prstGeom>
        </p:spPr>
        <p:txBody>
          <a:bodyPr lIns="0" tIns="0" rIns="0" bIns="0"/>
          <a:lstStyle/>
          <a:p>
            <a:endParaRPr lang="pt-BR" sz="2200" b="0" strike="noStrike" spc="-1">
              <a:solidFill>
                <a:srgbClr val="000000"/>
              </a:solidFill>
              <a:uFill>
                <a:solidFill>
                  <a:srgbClr val="FFFFFF"/>
                </a:solidFill>
              </a:uFill>
              <a:latin typeface="Arial"/>
            </a:endParaRPr>
          </a:p>
        </p:txBody>
      </p:sp>
      <p:pic>
        <p:nvPicPr>
          <p:cNvPr id="76" name="Imagem 75"/>
          <p:cNvPicPr/>
          <p:nvPr/>
        </p:nvPicPr>
        <p:blipFill>
          <a:blip r:embed="rId2"/>
          <a:stretch/>
        </p:blipFill>
        <p:spPr>
          <a:xfrm>
            <a:off x="1287000" y="1625400"/>
            <a:ext cx="6557040" cy="5231880"/>
          </a:xfrm>
          <a:prstGeom prst="rect">
            <a:avLst/>
          </a:prstGeom>
          <a:ln>
            <a:noFill/>
          </a:ln>
        </p:spPr>
      </p:pic>
      <p:pic>
        <p:nvPicPr>
          <p:cNvPr id="77" name="Imagem 76"/>
          <p:cNvPicPr/>
          <p:nvPr/>
        </p:nvPicPr>
        <p:blipFill>
          <a:blip r:embed="rId2"/>
          <a:stretch/>
        </p:blipFill>
        <p:spPr>
          <a:xfrm>
            <a:off x="1287000" y="1625400"/>
            <a:ext cx="6557040" cy="523188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764DE79-268F-4C1A-8933-263129D2AF90}" type="datetimeFigureOut">
              <a:rPr lang="en-US" dirty="0"/>
              <a:t>12/1/2023</a:t>
            </a:fld>
            <a:endParaRPr lang="en-US" dirty="0"/>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dirty="0"/>
          </a:p>
        </p:txBody>
      </p:sp>
    </p:spTree>
    <p:extLst>
      <p:ext uri="{BB962C8B-B14F-4D97-AF65-F5344CB8AC3E}">
        <p14:creationId xmlns:p14="http://schemas.microsoft.com/office/powerpoint/2010/main" val="230840724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143000" y="1122480"/>
            <a:ext cx="6857640" cy="2387160"/>
          </a:xfrm>
          <a:prstGeom prst="rect">
            <a:avLst/>
          </a:prstGeom>
        </p:spPr>
        <p:txBody>
          <a:bodyPr anchor="b"/>
          <a:lstStyle/>
          <a:p>
            <a:pPr algn="ctr">
              <a:lnSpc>
                <a:spcPct val="100000"/>
              </a:lnSpc>
            </a:pPr>
            <a:r>
              <a:rPr lang="pt-BR" sz="4500" b="1" strike="noStrike" spc="-1">
                <a:solidFill>
                  <a:srgbClr val="000000"/>
                </a:solidFill>
                <a:uFill>
                  <a:solidFill>
                    <a:srgbClr val="FFFFFF"/>
                  </a:solidFill>
                </a:uFill>
                <a:latin typeface="Arial"/>
              </a:rPr>
              <a:t>Clique para editar o título mestre</a:t>
            </a:r>
            <a:endParaRPr lang="pt-BR" sz="1800" b="0" strike="noStrike" spc="-1">
              <a:solidFill>
                <a:srgbClr val="000000"/>
              </a:solidFill>
              <a:uFill>
                <a:solidFill>
                  <a:srgbClr val="FFFFFF"/>
                </a:solidFill>
              </a:uFill>
              <a:latin typeface="Calibri"/>
            </a:endParaRPr>
          </a:p>
        </p:txBody>
      </p:sp>
      <p:sp>
        <p:nvSpPr>
          <p:cNvPr id="6" name="PlaceHolder 2"/>
          <p:cNvSpPr>
            <a:spLocks noGrp="1"/>
          </p:cNvSpPr>
          <p:nvPr>
            <p:ph type="dt"/>
          </p:nvPr>
        </p:nvSpPr>
        <p:spPr>
          <a:xfrm>
            <a:off x="628560" y="6356520"/>
            <a:ext cx="2057040" cy="364680"/>
          </a:xfrm>
          <a:prstGeom prst="rect">
            <a:avLst/>
          </a:prstGeom>
        </p:spPr>
        <p:txBody>
          <a:bodyPr lIns="90000" tIns="45000" rIns="90000" bIns="45000"/>
          <a:lstStyle/>
          <a:p>
            <a:pPr>
              <a:lnSpc>
                <a:spcPct val="100000"/>
              </a:lnSpc>
            </a:pPr>
            <a:r>
              <a:rPr lang="pt-BR" sz="1800" b="0" strike="noStrike" spc="-1">
                <a:solidFill>
                  <a:srgbClr val="000000"/>
                </a:solidFill>
                <a:uFill>
                  <a:solidFill>
                    <a:srgbClr val="FFFFFF"/>
                  </a:solidFill>
                </a:uFill>
                <a:latin typeface="Calibri"/>
              </a:rPr>
              <a:t>27/03/17</a:t>
            </a:r>
            <a:endParaRPr lang="pt-BR" sz="1400" b="0" strike="noStrike" spc="-1">
              <a:solidFill>
                <a:srgbClr val="000000"/>
              </a:solidFill>
              <a:uFill>
                <a:solidFill>
                  <a:srgbClr val="FFFFFF"/>
                </a:solidFill>
              </a:uFill>
              <a:latin typeface="Times New Roman"/>
            </a:endParaRPr>
          </a:p>
        </p:txBody>
      </p:sp>
      <p:sp>
        <p:nvSpPr>
          <p:cNvPr id="2" name="PlaceHolder 3"/>
          <p:cNvSpPr>
            <a:spLocks noGrp="1"/>
          </p:cNvSpPr>
          <p:nvPr>
            <p:ph type="ftr"/>
          </p:nvPr>
        </p:nvSpPr>
        <p:spPr>
          <a:xfrm>
            <a:off x="3029040" y="6356520"/>
            <a:ext cx="3085920" cy="364680"/>
          </a:xfrm>
          <a:prstGeom prst="rect">
            <a:avLst/>
          </a:prstGeom>
        </p:spPr>
        <p:txBody>
          <a:bodyPr lIns="90000" tIns="45000" rIns="90000" bIns="45000"/>
          <a:lstStyle/>
          <a:p>
            <a:endParaRPr lang="pt-BR" sz="2400" b="0" strike="noStrike" spc="-1">
              <a:solidFill>
                <a:srgbClr val="000000"/>
              </a:solidFill>
              <a:uFill>
                <a:solidFill>
                  <a:srgbClr val="FFFFFF"/>
                </a:solidFill>
              </a:uFill>
              <a:latin typeface="Times New Roman"/>
            </a:endParaRPr>
          </a:p>
        </p:txBody>
      </p:sp>
      <p:sp>
        <p:nvSpPr>
          <p:cNvPr id="3" name="PlaceHolder 4"/>
          <p:cNvSpPr>
            <a:spLocks noGrp="1"/>
          </p:cNvSpPr>
          <p:nvPr>
            <p:ph type="sldNum"/>
          </p:nvPr>
        </p:nvSpPr>
        <p:spPr>
          <a:xfrm>
            <a:off x="8674200" y="6492960"/>
            <a:ext cx="469440" cy="364680"/>
          </a:xfrm>
          <a:prstGeom prst="rect">
            <a:avLst/>
          </a:prstGeom>
        </p:spPr>
        <p:txBody>
          <a:bodyPr anchor="ctr"/>
          <a:lstStyle/>
          <a:p>
            <a:pPr algn="r">
              <a:lnSpc>
                <a:spcPct val="100000"/>
              </a:lnSpc>
            </a:pPr>
            <a:fld id="{282DD898-CD94-48F1-9897-71CFD01903D6}" type="slidenum">
              <a:rPr lang="pt-BR" sz="900" b="0" strike="noStrike" spc="-1">
                <a:solidFill>
                  <a:srgbClr val="8B8B8B"/>
                </a:solidFill>
                <a:uFill>
                  <a:solidFill>
                    <a:srgbClr val="FFFFFF"/>
                  </a:solidFill>
                </a:uFill>
                <a:latin typeface="Calibri"/>
              </a:rPr>
              <a:t>‹nº›</a:t>
            </a:fld>
            <a:endParaRPr lang="pt-BR" sz="1400" b="0" strike="noStrike" spc="-1">
              <a:solidFill>
                <a:srgbClr val="000000"/>
              </a:solidFill>
              <a:uFill>
                <a:solidFill>
                  <a:srgbClr val="FFFFFF"/>
                </a:solidFill>
              </a:uFill>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pt-BR" sz="2200" b="0" strike="noStrike" spc="-1">
                <a:solidFill>
                  <a:srgbClr val="000000"/>
                </a:solidFill>
                <a:uFill>
                  <a:solidFill>
                    <a:srgbClr val="FFFFFF"/>
                  </a:solidFill>
                </a:uFill>
                <a:latin typeface="Arial"/>
              </a:rPr>
              <a:t>Clique para editar o formato do texto da estrutura de tópicos</a:t>
            </a:r>
          </a:p>
          <a:p>
            <a:pPr marL="864000" lvl="1" indent="-324000">
              <a:buClr>
                <a:srgbClr val="000000"/>
              </a:buClr>
              <a:buSzPct val="75000"/>
              <a:buFont typeface="Symbol" charset="2"/>
              <a:buChar char=""/>
            </a:pPr>
            <a:r>
              <a:rPr lang="pt-BR" sz="1800" b="0" strike="noStrike" spc="-1">
                <a:solidFill>
                  <a:srgbClr val="000000"/>
                </a:solidFill>
                <a:uFill>
                  <a:solidFill>
                    <a:srgbClr val="FFFFFF"/>
                  </a:solidFill>
                </a:uFill>
                <a:latin typeface="Arial"/>
              </a:rPr>
              <a:t>2.º nível da estrutura de tópicos</a:t>
            </a:r>
          </a:p>
          <a:p>
            <a:pPr marL="1296000" lvl="2" indent="-288000">
              <a:buClr>
                <a:srgbClr val="000000"/>
              </a:buClr>
              <a:buSzPct val="45000"/>
              <a:buFont typeface="Wingdings" charset="2"/>
              <a:buChar char=""/>
            </a:pPr>
            <a:r>
              <a:rPr lang="pt-BR" sz="1600" b="0" strike="noStrike" spc="-1">
                <a:solidFill>
                  <a:srgbClr val="000000"/>
                </a:solidFill>
                <a:uFill>
                  <a:solidFill>
                    <a:srgbClr val="FFFFFF"/>
                  </a:solidFill>
                </a:uFill>
                <a:latin typeface="Arial"/>
              </a:rPr>
              <a:t>3.º nível da estrutura de tópicos</a:t>
            </a:r>
          </a:p>
          <a:p>
            <a:pPr marL="1728000" lvl="3" indent="-216000">
              <a:buClr>
                <a:srgbClr val="000000"/>
              </a:buClr>
              <a:buSzPct val="75000"/>
              <a:buFont typeface="Symbol" charset="2"/>
              <a:buChar char=""/>
            </a:pPr>
            <a:r>
              <a:rPr lang="pt-BR" sz="1600" b="0" strike="noStrike" spc="-1">
                <a:solidFill>
                  <a:srgbClr val="000000"/>
                </a:solidFill>
                <a:uFill>
                  <a:solidFill>
                    <a:srgbClr val="FFFFFF"/>
                  </a:solidFill>
                </a:uFill>
                <a:latin typeface="Arial"/>
              </a:rPr>
              <a:t>4.º nível da estrutura de tópicos</a:t>
            </a:r>
          </a:p>
          <a:p>
            <a:pPr marL="2160000" lvl="4"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5.º nível da estrutura de tópicos</a:t>
            </a:r>
          </a:p>
          <a:p>
            <a:pPr marL="2592000" lvl="5"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6.º nível da estrutura de tópicos</a:t>
            </a:r>
          </a:p>
          <a:p>
            <a:pPr marL="3024000" lvl="6"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7.º nível da estrutura de tópicos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39680" y="149400"/>
            <a:ext cx="8851680" cy="1325160"/>
          </a:xfrm>
          <a:prstGeom prst="rect">
            <a:avLst/>
          </a:prstGeom>
        </p:spPr>
        <p:txBody>
          <a:bodyPr anchor="ctr"/>
          <a:lstStyle/>
          <a:p>
            <a:pPr>
              <a:lnSpc>
                <a:spcPct val="90000"/>
              </a:lnSpc>
            </a:pPr>
            <a:r>
              <a:rPr lang="pt-BR" sz="3300" b="1" strike="noStrike" spc="-1">
                <a:solidFill>
                  <a:srgbClr val="000000"/>
                </a:solidFill>
                <a:uFill>
                  <a:solidFill>
                    <a:srgbClr val="FFFFFF"/>
                  </a:solidFill>
                </a:uFill>
                <a:latin typeface="Arial"/>
              </a:rPr>
              <a:t>Clique para editar o título mestre</a:t>
            </a:r>
            <a:endParaRPr lang="pt-BR" sz="1800" b="0" strike="noStrike" spc="-1">
              <a:solidFill>
                <a:srgbClr val="000000"/>
              </a:solidFill>
              <a:uFill>
                <a:solidFill>
                  <a:srgbClr val="FFFFFF"/>
                </a:solidFill>
              </a:uFill>
              <a:latin typeface="Calibri"/>
            </a:endParaRPr>
          </a:p>
        </p:txBody>
      </p:sp>
      <p:sp>
        <p:nvSpPr>
          <p:cNvPr id="40" name="PlaceHolder 2"/>
          <p:cNvSpPr>
            <a:spLocks noGrp="1"/>
          </p:cNvSpPr>
          <p:nvPr>
            <p:ph type="body"/>
          </p:nvPr>
        </p:nvSpPr>
        <p:spPr>
          <a:xfrm>
            <a:off x="139680" y="1625760"/>
            <a:ext cx="8851680" cy="5231880"/>
          </a:xfrm>
          <a:prstGeom prst="rect">
            <a:avLst/>
          </a:prstGeom>
        </p:spPr>
        <p:txBody>
          <a:bodyPr/>
          <a:lstStyle/>
          <a:p>
            <a:pPr marL="432000" indent="-324000">
              <a:buClr>
                <a:srgbClr val="000000"/>
              </a:buClr>
              <a:buSzPct val="45000"/>
              <a:buFont typeface="Wingdings" charset="2"/>
              <a:buChar char=""/>
            </a:pPr>
            <a:r>
              <a:rPr lang="pt-BR" sz="2200" b="0" strike="noStrike" spc="-1">
                <a:solidFill>
                  <a:srgbClr val="000000"/>
                </a:solidFill>
                <a:uFill>
                  <a:solidFill>
                    <a:srgbClr val="FFFFFF"/>
                  </a:solidFill>
                </a:uFill>
                <a:latin typeface="Arial"/>
              </a:rPr>
              <a:t>Clique para editar o formato do texto da estrutura de tópicos</a:t>
            </a:r>
          </a:p>
          <a:p>
            <a:pPr marL="864000" lvl="1" indent="-324000">
              <a:buClr>
                <a:srgbClr val="000000"/>
              </a:buClr>
              <a:buSzPct val="75000"/>
              <a:buFont typeface="Symbol" charset="2"/>
              <a:buChar char=""/>
            </a:pPr>
            <a:r>
              <a:rPr lang="pt-BR" sz="2200" b="0" strike="noStrike" spc="-1">
                <a:solidFill>
                  <a:srgbClr val="000000"/>
                </a:solidFill>
                <a:uFill>
                  <a:solidFill>
                    <a:srgbClr val="FFFFFF"/>
                  </a:solidFill>
                </a:uFill>
                <a:latin typeface="Arial"/>
              </a:rPr>
              <a:t>2.º nível da estrutura de tópicos</a:t>
            </a:r>
          </a:p>
          <a:p>
            <a:pPr marL="1296000" lvl="2" indent="-288000">
              <a:buClr>
                <a:srgbClr val="000000"/>
              </a:buClr>
              <a:buSzPct val="45000"/>
              <a:buFont typeface="Wingdings" charset="2"/>
              <a:buChar char=""/>
            </a:pPr>
            <a:r>
              <a:rPr lang="pt-BR" sz="2200" b="0" strike="noStrike" spc="-1">
                <a:solidFill>
                  <a:srgbClr val="000000"/>
                </a:solidFill>
                <a:uFill>
                  <a:solidFill>
                    <a:srgbClr val="FFFFFF"/>
                  </a:solidFill>
                </a:uFill>
                <a:latin typeface="Arial"/>
              </a:rPr>
              <a:t>3.º nível da estrutura de tópicos</a:t>
            </a:r>
          </a:p>
          <a:p>
            <a:pPr marL="1728000" lvl="3" indent="-216000">
              <a:buClr>
                <a:srgbClr val="000000"/>
              </a:buClr>
              <a:buSzPct val="75000"/>
              <a:buFont typeface="Symbol" charset="2"/>
              <a:buChar char=""/>
            </a:pPr>
            <a:r>
              <a:rPr lang="pt-BR" sz="2200" b="0" strike="noStrike" spc="-1">
                <a:solidFill>
                  <a:srgbClr val="000000"/>
                </a:solidFill>
                <a:uFill>
                  <a:solidFill>
                    <a:srgbClr val="FFFFFF"/>
                  </a:solidFill>
                </a:uFill>
                <a:latin typeface="Arial"/>
              </a:rPr>
              <a:t>4.º nível da estrutura de tópicos</a:t>
            </a:r>
          </a:p>
          <a:p>
            <a:pPr marL="2160000" lvl="4" indent="-216000">
              <a:buClr>
                <a:srgbClr val="000000"/>
              </a:buClr>
              <a:buSzPct val="45000"/>
              <a:buFont typeface="Wingdings" charset="2"/>
              <a:buChar char=""/>
            </a:pPr>
            <a:r>
              <a:rPr lang="pt-BR" sz="2200" b="0" strike="noStrike" spc="-1">
                <a:solidFill>
                  <a:srgbClr val="000000"/>
                </a:solidFill>
                <a:uFill>
                  <a:solidFill>
                    <a:srgbClr val="FFFFFF"/>
                  </a:solidFill>
                </a:uFill>
                <a:latin typeface="Arial"/>
              </a:rPr>
              <a:t>5.º nível da estrutura de tópicos</a:t>
            </a:r>
          </a:p>
          <a:p>
            <a:pPr marL="2592000" lvl="5" indent="-216000">
              <a:buClr>
                <a:srgbClr val="000000"/>
              </a:buClr>
              <a:buSzPct val="45000"/>
              <a:buFont typeface="Wingdings" charset="2"/>
              <a:buChar char=""/>
            </a:pPr>
            <a:r>
              <a:rPr lang="pt-BR" sz="2200" b="0" strike="noStrike" spc="-1">
                <a:solidFill>
                  <a:srgbClr val="000000"/>
                </a:solidFill>
                <a:uFill>
                  <a:solidFill>
                    <a:srgbClr val="FFFFFF"/>
                  </a:solidFill>
                </a:uFill>
                <a:latin typeface="Arial"/>
              </a:rPr>
              <a:t>6.º nível da estrutura de tópicos</a:t>
            </a:r>
          </a:p>
          <a:p>
            <a:pPr marL="171360" indent="-171000" algn="just">
              <a:lnSpc>
                <a:spcPct val="100000"/>
              </a:lnSpc>
              <a:buClr>
                <a:srgbClr val="000000"/>
              </a:buClr>
              <a:buFont typeface="Arial"/>
              <a:buChar char="•"/>
            </a:pPr>
            <a:r>
              <a:rPr lang="pt-BR" sz="2200" b="0" strike="noStrike" spc="-1">
                <a:solidFill>
                  <a:srgbClr val="000000"/>
                </a:solidFill>
                <a:uFill>
                  <a:solidFill>
                    <a:srgbClr val="FFFFFF"/>
                  </a:solidFill>
                </a:uFill>
                <a:latin typeface="Arial"/>
              </a:rPr>
              <a:t>7.º nível da estrutura de tópicosClique para editar o texto mestre</a:t>
            </a:r>
          </a:p>
          <a:p>
            <a:pPr marL="514440" lvl="1" indent="-171000" algn="just">
              <a:lnSpc>
                <a:spcPct val="100000"/>
              </a:lnSpc>
              <a:buClr>
                <a:srgbClr val="000000"/>
              </a:buClr>
              <a:buFont typeface="Arial"/>
              <a:buChar char="•"/>
            </a:pPr>
            <a:r>
              <a:rPr lang="pt-BR" sz="2000" b="0" strike="noStrike" spc="-1">
                <a:solidFill>
                  <a:srgbClr val="000000"/>
                </a:solidFill>
                <a:uFill>
                  <a:solidFill>
                    <a:srgbClr val="FFFFFF"/>
                  </a:solidFill>
                </a:uFill>
                <a:latin typeface="Arial"/>
              </a:rPr>
              <a:t>Segundo nível</a:t>
            </a:r>
            <a:endParaRPr lang="pt-BR" sz="2200" b="0" strike="noStrike" spc="-1">
              <a:solidFill>
                <a:srgbClr val="000000"/>
              </a:solidFill>
              <a:uFill>
                <a:solidFill>
                  <a:srgbClr val="FFFFFF"/>
                </a:solidFill>
              </a:uFill>
              <a:latin typeface="Arial"/>
            </a:endParaRPr>
          </a:p>
          <a:p>
            <a:pPr marL="857160" lvl="2" indent="-171000" algn="just">
              <a:lnSpc>
                <a:spcPct val="100000"/>
              </a:lnSpc>
              <a:buClr>
                <a:srgbClr val="000000"/>
              </a:buClr>
              <a:buFont typeface="Arial"/>
              <a:buChar char="•"/>
            </a:pPr>
            <a:r>
              <a:rPr lang="pt-BR" sz="1800" b="0" strike="noStrike" spc="-1">
                <a:solidFill>
                  <a:srgbClr val="000000"/>
                </a:solidFill>
                <a:uFill>
                  <a:solidFill>
                    <a:srgbClr val="FFFFFF"/>
                  </a:solidFill>
                </a:uFill>
                <a:latin typeface="Arial"/>
              </a:rPr>
              <a:t>Terceiro nível</a:t>
            </a:r>
            <a:endParaRPr lang="pt-BR" sz="2200" b="0" strike="noStrike" spc="-1">
              <a:solidFill>
                <a:srgbClr val="000000"/>
              </a:solidFill>
              <a:uFill>
                <a:solidFill>
                  <a:srgbClr val="FFFFFF"/>
                </a:solidFill>
              </a:uFill>
              <a:latin typeface="Arial"/>
            </a:endParaRPr>
          </a:p>
          <a:p>
            <a:pPr marL="1200240" lvl="3" indent="-171000" algn="just">
              <a:lnSpc>
                <a:spcPct val="100000"/>
              </a:lnSpc>
              <a:buClr>
                <a:srgbClr val="000000"/>
              </a:buClr>
              <a:buFont typeface="Arial"/>
              <a:buChar char="•"/>
            </a:pPr>
            <a:r>
              <a:rPr lang="pt-BR" sz="1600" b="0" strike="noStrike" spc="-1">
                <a:solidFill>
                  <a:srgbClr val="000000"/>
                </a:solidFill>
                <a:uFill>
                  <a:solidFill>
                    <a:srgbClr val="FFFFFF"/>
                  </a:solidFill>
                </a:uFill>
                <a:latin typeface="Arial"/>
              </a:rPr>
              <a:t>Quarto nível</a:t>
            </a:r>
            <a:endParaRPr lang="pt-BR" sz="2200" b="0" strike="noStrike" spc="-1">
              <a:solidFill>
                <a:srgbClr val="000000"/>
              </a:solidFill>
              <a:uFill>
                <a:solidFill>
                  <a:srgbClr val="FFFFFF"/>
                </a:solidFill>
              </a:uFill>
              <a:latin typeface="Arial"/>
            </a:endParaRPr>
          </a:p>
          <a:p>
            <a:pPr marL="1542960" lvl="4" indent="-171000" algn="just">
              <a:lnSpc>
                <a:spcPct val="100000"/>
              </a:lnSpc>
              <a:buClr>
                <a:srgbClr val="000000"/>
              </a:buClr>
              <a:buFont typeface="Arial"/>
              <a:buChar char="•"/>
            </a:pPr>
            <a:r>
              <a:rPr lang="pt-BR" sz="1600" b="0" strike="noStrike" spc="-1">
                <a:solidFill>
                  <a:srgbClr val="000000"/>
                </a:solidFill>
                <a:uFill>
                  <a:solidFill>
                    <a:srgbClr val="FFFFFF"/>
                  </a:solidFill>
                </a:uFill>
                <a:latin typeface="Arial"/>
              </a:rPr>
              <a:t>Quinto nível</a:t>
            </a:r>
            <a:endParaRPr lang="pt-BR" sz="2200" b="0" strike="noStrike" spc="-1">
              <a:solidFill>
                <a:srgbClr val="000000"/>
              </a:solidFill>
              <a:uFill>
                <a:solidFill>
                  <a:srgbClr val="FFFFFF"/>
                </a:solidFill>
              </a:uFill>
              <a:latin typeface="Arial"/>
            </a:endParaRPr>
          </a:p>
        </p:txBody>
      </p:sp>
      <p:sp>
        <p:nvSpPr>
          <p:cNvPr id="41" name="PlaceHolder 3"/>
          <p:cNvSpPr>
            <a:spLocks noGrp="1"/>
          </p:cNvSpPr>
          <p:nvPr>
            <p:ph type="dt"/>
          </p:nvPr>
        </p:nvSpPr>
        <p:spPr>
          <a:xfrm>
            <a:off x="628560" y="6356520"/>
            <a:ext cx="2057040" cy="364680"/>
          </a:xfrm>
          <a:prstGeom prst="rect">
            <a:avLst/>
          </a:prstGeom>
        </p:spPr>
        <p:txBody>
          <a:bodyPr lIns="90000" tIns="45000" rIns="90000" bIns="45000"/>
          <a:lstStyle/>
          <a:p>
            <a:pPr>
              <a:lnSpc>
                <a:spcPct val="100000"/>
              </a:lnSpc>
            </a:pPr>
            <a:r>
              <a:rPr lang="pt-BR" sz="1800" b="0" strike="noStrike" spc="-1">
                <a:solidFill>
                  <a:srgbClr val="000000"/>
                </a:solidFill>
                <a:uFill>
                  <a:solidFill>
                    <a:srgbClr val="FFFFFF"/>
                  </a:solidFill>
                </a:uFill>
                <a:latin typeface="Calibri"/>
              </a:rPr>
              <a:t>27/03/17</a:t>
            </a:r>
            <a:endParaRPr lang="pt-BR" sz="1400" b="0" strike="noStrike" spc="-1">
              <a:solidFill>
                <a:srgbClr val="000000"/>
              </a:solidFill>
              <a:uFill>
                <a:solidFill>
                  <a:srgbClr val="FFFFFF"/>
                </a:solidFill>
              </a:uFill>
              <a:latin typeface="Times New Roman"/>
            </a:endParaRPr>
          </a:p>
        </p:txBody>
      </p:sp>
      <p:sp>
        <p:nvSpPr>
          <p:cNvPr id="42" name="PlaceHolder 4"/>
          <p:cNvSpPr>
            <a:spLocks noGrp="1"/>
          </p:cNvSpPr>
          <p:nvPr>
            <p:ph type="ftr"/>
          </p:nvPr>
        </p:nvSpPr>
        <p:spPr>
          <a:xfrm>
            <a:off x="3029040" y="6356520"/>
            <a:ext cx="3085920" cy="364680"/>
          </a:xfrm>
          <a:prstGeom prst="rect">
            <a:avLst/>
          </a:prstGeom>
        </p:spPr>
        <p:txBody>
          <a:bodyPr lIns="90000" tIns="45000" rIns="90000" bIns="45000"/>
          <a:lstStyle/>
          <a:p>
            <a:endParaRPr lang="pt-BR" sz="2400" b="0" strike="noStrike" spc="-1">
              <a:solidFill>
                <a:srgbClr val="000000"/>
              </a:solidFill>
              <a:uFill>
                <a:solidFill>
                  <a:srgbClr val="FFFFFF"/>
                </a:solidFill>
              </a:uFill>
              <a:latin typeface="Times New Roman"/>
            </a:endParaRPr>
          </a:p>
        </p:txBody>
      </p:sp>
      <p:sp>
        <p:nvSpPr>
          <p:cNvPr id="43" name="PlaceHolder 5"/>
          <p:cNvSpPr>
            <a:spLocks noGrp="1"/>
          </p:cNvSpPr>
          <p:nvPr>
            <p:ph type="sldNum"/>
          </p:nvPr>
        </p:nvSpPr>
        <p:spPr>
          <a:xfrm>
            <a:off x="8674200" y="6492960"/>
            <a:ext cx="469440" cy="364680"/>
          </a:xfrm>
          <a:prstGeom prst="rect">
            <a:avLst/>
          </a:prstGeom>
        </p:spPr>
        <p:txBody>
          <a:bodyPr anchor="ctr"/>
          <a:lstStyle/>
          <a:p>
            <a:pPr algn="r">
              <a:lnSpc>
                <a:spcPct val="100000"/>
              </a:lnSpc>
            </a:pPr>
            <a:fld id="{DB641E5E-0C8D-440B-A19F-B21E7EA9A35C}" type="slidenum">
              <a:rPr lang="pt-BR" sz="900" b="0" strike="noStrike" spc="-1">
                <a:solidFill>
                  <a:srgbClr val="8B8B8B"/>
                </a:solidFill>
                <a:uFill>
                  <a:solidFill>
                    <a:srgbClr val="FFFFFF"/>
                  </a:solidFill>
                </a:uFill>
                <a:latin typeface="Calibri"/>
              </a:rPr>
              <a:t>‹nº›</a:t>
            </a:fld>
            <a:endParaRPr lang="pt-BR" sz="1400" b="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5.webp"/><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REGRAS DO SEMINÁRIO</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algn="just">
              <a:spcAft>
                <a:spcPts val="600"/>
              </a:spcAft>
            </a:pPr>
            <a:r>
              <a:rPr lang="pt-BR" sz="2200" dirty="0">
                <a:effectLst/>
                <a:latin typeface="+mj-lt"/>
                <a:ea typeface="Calibri" panose="020F0502020204030204" pitchFamily="34" charset="0"/>
                <a:cs typeface="Times New Roman" panose="02020603050405020304" pitchFamily="18" charset="0"/>
              </a:rPr>
              <a:t>Fazer uma apresentação para toda sala descrevendo como funcionam os conceitos vistos em sala de aula na linguagem escolhida pelo grupo: </a:t>
            </a:r>
          </a:p>
          <a:p>
            <a:pPr marL="342900" indent="-342900" algn="just">
              <a:spcAft>
                <a:spcPts val="600"/>
              </a:spcAft>
              <a:buFont typeface="Arial" panose="020B0604020202020204" pitchFamily="34" charset="0"/>
              <a:buChar char="•"/>
            </a:pPr>
            <a:r>
              <a:rPr lang="pt-BR" sz="2200" dirty="0">
                <a:effectLst/>
                <a:latin typeface="+mj-lt"/>
                <a:ea typeface="Calibri" panose="020F0502020204030204" pitchFamily="34" charset="0"/>
                <a:cs typeface="Times New Roman" panose="02020603050405020304" pitchFamily="18" charset="0"/>
              </a:rPr>
              <a:t>variáveis</a:t>
            </a:r>
          </a:p>
          <a:p>
            <a:pPr marL="342900" indent="-342900" algn="just">
              <a:spcAft>
                <a:spcPts val="600"/>
              </a:spcAft>
              <a:buFont typeface="Arial" panose="020B0604020202020204" pitchFamily="34" charset="0"/>
              <a:buChar char="•"/>
            </a:pPr>
            <a:r>
              <a:rPr lang="pt-BR" sz="2200" dirty="0">
                <a:effectLst/>
                <a:latin typeface="+mj-lt"/>
                <a:ea typeface="Calibri" panose="020F0502020204030204" pitchFamily="34" charset="0"/>
                <a:cs typeface="Times New Roman" panose="02020603050405020304" pitchFamily="18" charset="0"/>
              </a:rPr>
              <a:t>tipos</a:t>
            </a:r>
          </a:p>
          <a:p>
            <a:pPr marL="342900" indent="-342900" algn="just">
              <a:spcAft>
                <a:spcPts val="600"/>
              </a:spcAft>
              <a:buFont typeface="Arial" panose="020B0604020202020204" pitchFamily="34" charset="0"/>
              <a:buChar char="•"/>
            </a:pPr>
            <a:r>
              <a:rPr lang="pt-BR" sz="2200" dirty="0">
                <a:effectLst/>
                <a:latin typeface="+mj-lt"/>
                <a:ea typeface="Calibri" panose="020F0502020204030204" pitchFamily="34" charset="0"/>
                <a:cs typeface="Times New Roman" panose="02020603050405020304" pitchFamily="18" charset="0"/>
              </a:rPr>
              <a:t>expressões</a:t>
            </a:r>
          </a:p>
          <a:p>
            <a:pPr marL="342900" indent="-342900" algn="just">
              <a:spcAft>
                <a:spcPts val="600"/>
              </a:spcAft>
              <a:buFont typeface="Arial" panose="020B0604020202020204" pitchFamily="34" charset="0"/>
              <a:buChar char="•"/>
            </a:pPr>
            <a:r>
              <a:rPr lang="pt-BR" sz="2200" dirty="0">
                <a:effectLst/>
                <a:latin typeface="+mj-lt"/>
                <a:ea typeface="Calibri" panose="020F0502020204030204" pitchFamily="34" charset="0"/>
                <a:cs typeface="Times New Roman" panose="02020603050405020304" pitchFamily="18" charset="0"/>
              </a:rPr>
              <a:t>estruturas de seleção</a:t>
            </a:r>
          </a:p>
          <a:p>
            <a:pPr marL="342900" indent="-342900" algn="just">
              <a:spcAft>
                <a:spcPts val="600"/>
              </a:spcAft>
              <a:buFont typeface="Arial" panose="020B0604020202020204" pitchFamily="34" charset="0"/>
              <a:buChar char="•"/>
            </a:pPr>
            <a:r>
              <a:rPr lang="pt-BR" sz="2200" dirty="0">
                <a:latin typeface="+mj-lt"/>
                <a:ea typeface="Calibri" panose="020F0502020204030204" pitchFamily="34" charset="0"/>
                <a:cs typeface="Times New Roman" panose="02020603050405020304" pitchFamily="18" charset="0"/>
              </a:rPr>
              <a:t>estruturas de iteração</a:t>
            </a:r>
            <a:endParaRPr lang="pt-BR" sz="2200" dirty="0">
              <a:effectLst/>
              <a:latin typeface="+mj-lt"/>
              <a:ea typeface="Calibri" panose="020F0502020204030204" pitchFamily="34" charset="0"/>
              <a:cs typeface="Times New Roman" panose="02020603050405020304" pitchFamily="18" charset="0"/>
            </a:endParaRPr>
          </a:p>
          <a:p>
            <a:pPr marL="342900" indent="-342900" algn="just">
              <a:spcAft>
                <a:spcPts val="600"/>
              </a:spcAft>
              <a:buFont typeface="Arial" panose="020B0604020202020204" pitchFamily="34" charset="0"/>
              <a:buChar char="•"/>
            </a:pPr>
            <a:r>
              <a:rPr lang="pt-BR" sz="2200" dirty="0">
                <a:effectLst/>
                <a:latin typeface="+mj-lt"/>
                <a:ea typeface="Calibri" panose="020F0502020204030204" pitchFamily="34" charset="0"/>
                <a:cs typeface="Times New Roman" panose="02020603050405020304" pitchFamily="18" charset="0"/>
              </a:rPr>
              <a:t>subprogramas</a:t>
            </a:r>
          </a:p>
          <a:p>
            <a:pPr marL="342900" indent="-342900" algn="just">
              <a:spcAft>
                <a:spcPts val="600"/>
              </a:spcAft>
              <a:buFont typeface="Arial" panose="020B0604020202020204" pitchFamily="34" charset="0"/>
              <a:buChar char="•"/>
            </a:pPr>
            <a:r>
              <a:rPr lang="pt-BR" sz="2200" dirty="0">
                <a:effectLst/>
                <a:latin typeface="+mj-lt"/>
                <a:ea typeface="Calibri" panose="020F0502020204030204" pitchFamily="34" charset="0"/>
                <a:cs typeface="Times New Roman" panose="02020603050405020304" pitchFamily="18" charset="0"/>
              </a:rPr>
              <a:t>orientação a objetos</a:t>
            </a:r>
          </a:p>
          <a:p>
            <a:pPr marL="342900" indent="-342900" algn="just">
              <a:spcAft>
                <a:spcPts val="600"/>
              </a:spcAft>
              <a:buFont typeface="Arial" panose="020B0604020202020204" pitchFamily="34" charset="0"/>
              <a:buChar char="•"/>
            </a:pPr>
            <a:r>
              <a:rPr lang="pt-BR" sz="2200" dirty="0">
                <a:effectLst/>
                <a:latin typeface="+mj-lt"/>
                <a:ea typeface="Calibri" panose="020F0502020204030204" pitchFamily="34" charset="0"/>
                <a:cs typeface="Times New Roman" panose="02020603050405020304" pitchFamily="18" charset="0"/>
              </a:rPr>
              <a:t>tratamento de exceção </a:t>
            </a:r>
          </a:p>
          <a:p>
            <a:pPr marL="342900" indent="-342900" algn="just">
              <a:spcAft>
                <a:spcPts val="600"/>
              </a:spcAft>
              <a:buFont typeface="Arial" panose="020B0604020202020204" pitchFamily="34" charset="0"/>
              <a:buChar char="•"/>
            </a:pPr>
            <a:r>
              <a:rPr lang="pt-BR" sz="2200" dirty="0">
                <a:effectLst/>
                <a:latin typeface="+mj-lt"/>
                <a:ea typeface="Calibri" panose="020F0502020204030204" pitchFamily="34" charset="0"/>
                <a:cs typeface="Times New Roman" panose="02020603050405020304" pitchFamily="18" charset="0"/>
              </a:rPr>
              <a:t>gerenciamento de memória</a:t>
            </a:r>
          </a:p>
        </p:txBody>
      </p:sp>
    </p:spTree>
    <p:extLst>
      <p:ext uri="{BB962C8B-B14F-4D97-AF65-F5344CB8AC3E}">
        <p14:creationId xmlns:p14="http://schemas.microsoft.com/office/powerpoint/2010/main" val="230475788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DICAS IMPORTANTES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342900" indent="-342900" algn="just">
              <a:spcAft>
                <a:spcPts val="600"/>
              </a:spcAft>
              <a:buFont typeface="Arial" panose="020B0604020202020204" pitchFamily="34" charset="0"/>
              <a:buChar char="•"/>
            </a:pPr>
            <a:r>
              <a:rPr lang="pt-BR" sz="2000" dirty="0"/>
              <a:t>A apresentação é para toda a sala, não apenas para o professor;</a:t>
            </a:r>
          </a:p>
          <a:p>
            <a:pPr marL="342900" indent="-342900" algn="just">
              <a:spcAft>
                <a:spcPts val="600"/>
              </a:spcAft>
              <a:buFont typeface="Arial" panose="020B0604020202020204" pitchFamily="34" charset="0"/>
              <a:buChar char="•"/>
            </a:pPr>
            <a:r>
              <a:rPr lang="pt-BR" sz="2000" dirty="0"/>
              <a:t>Evitar exemplos e texto com letras pequenas e difíceis de enxergar;</a:t>
            </a:r>
          </a:p>
          <a:p>
            <a:pPr marL="342900" indent="-342900" algn="just">
              <a:spcAft>
                <a:spcPts val="600"/>
              </a:spcAft>
              <a:buFont typeface="Arial" panose="020B0604020202020204" pitchFamily="34" charset="0"/>
              <a:buChar char="•"/>
            </a:pPr>
            <a:r>
              <a:rPr lang="pt-BR" sz="2000" dirty="0"/>
              <a:t>Evitar combinações de cores ruins (ex.: letra e fundo escuros);</a:t>
            </a:r>
          </a:p>
          <a:p>
            <a:pPr marL="342900" indent="-342900" algn="just">
              <a:spcAft>
                <a:spcPts val="600"/>
              </a:spcAft>
              <a:buFont typeface="Arial" panose="020B0604020202020204" pitchFamily="34" charset="0"/>
              <a:buChar char="•"/>
            </a:pPr>
            <a:r>
              <a:rPr lang="pt-BR" sz="2000" dirty="0"/>
              <a:t>Apresentar exemplos junto com da explicação teórica;</a:t>
            </a:r>
          </a:p>
          <a:p>
            <a:pPr marL="342900" indent="-342900" algn="just">
              <a:spcAft>
                <a:spcPts val="600"/>
              </a:spcAft>
              <a:buFont typeface="Arial" panose="020B0604020202020204" pitchFamily="34" charset="0"/>
              <a:buChar char="•"/>
            </a:pPr>
            <a:r>
              <a:rPr lang="pt-BR" sz="2000" dirty="0"/>
              <a:t>Não explicar conceitos já explicados pelo professor nas aulas; </a:t>
            </a:r>
          </a:p>
          <a:p>
            <a:pPr marL="742950" lvl="1" indent="-285750" algn="just">
              <a:spcAft>
                <a:spcPts val="600"/>
              </a:spcAft>
              <a:buFont typeface="Arial" panose="020B0604020202020204" pitchFamily="34" charset="0"/>
              <a:buChar char="•"/>
            </a:pPr>
            <a:r>
              <a:rPr lang="pt-BR" dirty="0"/>
              <a:t>Por exemplo, se a linguagem adotar tipagem dinâmica, basta citar isso, não precisa explicar o que é tipagem dinâmica;</a:t>
            </a:r>
          </a:p>
          <a:p>
            <a:pPr marL="342900" indent="-342900" algn="just">
              <a:spcAft>
                <a:spcPts val="600"/>
              </a:spcAft>
              <a:buFont typeface="Arial" panose="020B0604020202020204" pitchFamily="34" charset="0"/>
              <a:buChar char="•"/>
            </a:pPr>
            <a:r>
              <a:rPr lang="pt-BR" sz="2000" dirty="0"/>
              <a:t>Apresente todos os tipos existentes na linguagem (como no slide 8), mas comente apenas para aqueles que diferem do comum. A mesma coisa para precedência e associatividade;</a:t>
            </a:r>
          </a:p>
          <a:p>
            <a:pPr marL="742950" lvl="1" indent="-285750" algn="just">
              <a:spcAft>
                <a:spcPts val="600"/>
              </a:spcAft>
              <a:buFont typeface="Arial" panose="020B0604020202020204" pitchFamily="34" charset="0"/>
              <a:buChar char="•"/>
            </a:pPr>
            <a:r>
              <a:rPr lang="pt-BR" dirty="0"/>
              <a:t>Por exemplo, não precisa explicar inteiro, ponto flutuante, </a:t>
            </a:r>
            <a:r>
              <a:rPr lang="pt-BR" dirty="0" err="1"/>
              <a:t>string</a:t>
            </a:r>
            <a:r>
              <a:rPr lang="pt-BR" dirty="0"/>
              <a:t>, </a:t>
            </a:r>
            <a:r>
              <a:rPr lang="pt-BR" dirty="0" err="1"/>
              <a:t>array</a:t>
            </a:r>
            <a:r>
              <a:rPr lang="pt-BR" dirty="0"/>
              <a:t>, etc., exceto se eles tiverem alguma característica peculiar que difere da maioria das linguagens. No caso de Java, bastaria dizer que os tipos primitivos não são O.O., mas existem classes O.O. equivalentes. </a:t>
            </a:r>
          </a:p>
        </p:txBody>
      </p:sp>
    </p:spTree>
    <p:extLst>
      <p:ext uri="{BB962C8B-B14F-4D97-AF65-F5344CB8AC3E}">
        <p14:creationId xmlns:p14="http://schemas.microsoft.com/office/powerpoint/2010/main" val="326979210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78" name="TextShape 1"/>
          <p:cNvSpPr txBox="1"/>
          <p:nvPr/>
        </p:nvSpPr>
        <p:spPr>
          <a:xfrm>
            <a:off x="2852280" y="1613520"/>
            <a:ext cx="6154920" cy="2387160"/>
          </a:xfrm>
          <a:prstGeom prst="rect">
            <a:avLst/>
          </a:prstGeom>
          <a:noFill/>
          <a:ln>
            <a:noFill/>
          </a:ln>
        </p:spPr>
        <p:txBody>
          <a:bodyPr anchor="b"/>
          <a:lstStyle/>
          <a:p>
            <a:pPr algn="ctr">
              <a:lnSpc>
                <a:spcPct val="100000"/>
              </a:lnSpc>
            </a:pPr>
            <a:r>
              <a:rPr lang="pt-BR" sz="3600" b="1" strike="noStrike" spc="-1">
                <a:solidFill>
                  <a:srgbClr val="000000"/>
                </a:solidFill>
                <a:uFill>
                  <a:solidFill>
                    <a:srgbClr val="FFFFFF"/>
                  </a:solidFill>
                </a:uFill>
                <a:latin typeface="Lucida Sans Unicode"/>
              </a:rPr>
              <a:t>Conceitos da Linguagem
</a:t>
            </a:r>
            <a:r>
              <a:rPr lang="pt-BR" sz="8800" b="1" strike="noStrike" spc="-1">
                <a:solidFill>
                  <a:srgbClr val="000000"/>
                </a:solidFill>
                <a:uFill>
                  <a:solidFill>
                    <a:srgbClr val="FFFFFF"/>
                  </a:solidFill>
                </a:uFill>
                <a:latin typeface="Lucida Sans Unicode"/>
              </a:rPr>
              <a:t>Java</a:t>
            </a:r>
            <a:endParaRPr lang="pt-BR" sz="1800" b="0" strike="noStrike" spc="-1">
              <a:solidFill>
                <a:srgbClr val="000000"/>
              </a:solidFill>
              <a:uFill>
                <a:solidFill>
                  <a:srgbClr val="FFFFFF"/>
                </a:solidFill>
              </a:uFill>
              <a:latin typeface="Calibri"/>
            </a:endParaRPr>
          </a:p>
        </p:txBody>
      </p:sp>
      <p:sp>
        <p:nvSpPr>
          <p:cNvPr id="79" name="TextShape 2"/>
          <p:cNvSpPr txBox="1"/>
          <p:nvPr/>
        </p:nvSpPr>
        <p:spPr>
          <a:xfrm>
            <a:off x="2852280" y="4407120"/>
            <a:ext cx="6154920" cy="1655280"/>
          </a:xfrm>
          <a:prstGeom prst="rect">
            <a:avLst/>
          </a:prstGeom>
          <a:noFill/>
          <a:ln>
            <a:noFill/>
          </a:ln>
        </p:spPr>
        <p:txBody>
          <a:bodyPr/>
          <a:lstStyle/>
          <a:p>
            <a:pPr algn="ctr">
              <a:lnSpc>
                <a:spcPct val="100000"/>
              </a:lnSpc>
            </a:pPr>
            <a:r>
              <a:rPr lang="pt-BR" sz="2000" b="0" strike="noStrike" spc="-1" dirty="0">
                <a:solidFill>
                  <a:srgbClr val="000000"/>
                </a:solidFill>
                <a:uFill>
                  <a:solidFill>
                    <a:srgbClr val="FFFFFF"/>
                  </a:solidFill>
                </a:uFill>
                <a:latin typeface="Lucida Sans Unicode"/>
              </a:rPr>
              <a:t>Matheus Carvalho Viana</a:t>
            </a:r>
            <a:endParaRPr lang="pt-BR" sz="3200" b="0" strike="noStrike" spc="-1" dirty="0">
              <a:solidFill>
                <a:srgbClr val="000000"/>
              </a:solidFill>
              <a:uFill>
                <a:solidFill>
                  <a:srgbClr val="FFFFFF"/>
                </a:solidFill>
              </a:uFill>
              <a:latin typeface="Arial"/>
            </a:endParaRPr>
          </a:p>
        </p:txBody>
      </p:sp>
      <p:pic>
        <p:nvPicPr>
          <p:cNvPr id="80" name="Imagem 4"/>
          <p:cNvPicPr/>
          <p:nvPr/>
        </p:nvPicPr>
        <p:blipFill>
          <a:blip r:embed="rId3"/>
          <a:srcRect b="31351"/>
          <a:stretch/>
        </p:blipFill>
        <p:spPr>
          <a:xfrm>
            <a:off x="81720" y="1640160"/>
            <a:ext cx="2566440" cy="3286080"/>
          </a:xfrm>
          <a:prstGeom prst="rect">
            <a:avLst/>
          </a:prstGeom>
          <a:ln>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História</a:t>
            </a:r>
            <a:endParaRPr lang="pt-BR" sz="1800" b="0" strike="noStrike" spc="-1" dirty="0">
              <a:solidFill>
                <a:srgbClr val="000000"/>
              </a:solidFill>
              <a:uFill>
                <a:solidFill>
                  <a:srgbClr val="FFFFFF"/>
                </a:solidFill>
              </a:uFill>
              <a:latin typeface="Calibri"/>
            </a:endParaRPr>
          </a:p>
        </p:txBody>
      </p:sp>
      <p:sp>
        <p:nvSpPr>
          <p:cNvPr id="82"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Java foi desenvolvida na década de 90 por uma equipe chefiada por James </a:t>
            </a:r>
            <a:r>
              <a:rPr lang="pt-BR" sz="2200" b="0" strike="noStrike" spc="-1" dirty="0" err="1">
                <a:solidFill>
                  <a:srgbClr val="000000"/>
                </a:solidFill>
                <a:uFill>
                  <a:solidFill>
                    <a:srgbClr val="FFFFFF"/>
                  </a:solidFill>
                </a:uFill>
                <a:latin typeface="Arial"/>
              </a:rPr>
              <a:t>Gosling</a:t>
            </a:r>
            <a:r>
              <a:rPr lang="pt-BR" sz="2200" b="0" strike="noStrike" spc="-1" dirty="0">
                <a:solidFill>
                  <a:srgbClr val="000000"/>
                </a:solidFill>
                <a:uFill>
                  <a:solidFill>
                    <a:srgbClr val="FFFFFF"/>
                  </a:solidFill>
                </a:uFill>
                <a:latin typeface="Arial"/>
              </a:rPr>
              <a:t>, na empresa Sun Microsystems. </a:t>
            </a:r>
          </a:p>
          <a:p>
            <a:pPr marL="171360" indent="-171000" algn="just">
              <a:lnSpc>
                <a:spcPct val="100000"/>
              </a:lnSpc>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Em seu projeto inicial, deveria se chamar </a:t>
            </a:r>
            <a:r>
              <a:rPr lang="pt-BR" sz="2200" b="0" strike="noStrike" spc="-1" dirty="0" err="1">
                <a:solidFill>
                  <a:srgbClr val="000000"/>
                </a:solidFill>
                <a:uFill>
                  <a:solidFill>
                    <a:srgbClr val="FFFFFF"/>
                  </a:solidFill>
                </a:uFill>
                <a:latin typeface="Arial"/>
              </a:rPr>
              <a:t>Oak</a:t>
            </a:r>
            <a:r>
              <a:rPr lang="pt-BR" sz="2200" b="0" strike="noStrike" spc="-1" dirty="0">
                <a:solidFill>
                  <a:srgbClr val="000000"/>
                </a:solidFill>
                <a:uFill>
                  <a:solidFill>
                    <a:srgbClr val="FFFFFF"/>
                  </a:solidFill>
                </a:uFill>
                <a:latin typeface="Arial"/>
              </a:rPr>
              <a:t>, mas a equipe descobriu que já existia uma linguagem com esse nome.</a:t>
            </a:r>
          </a:p>
          <a:p>
            <a:pPr marL="171360" indent="-171000" algn="just">
              <a:lnSpc>
                <a:spcPct val="100000"/>
              </a:lnSpc>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Além disso, o intuito inicial era criar uma linguagem para sistemas embarcados inteligentes que permitissem uma interação dos usuários com os fornecedores de conteúdo (como as </a:t>
            </a:r>
            <a:r>
              <a:rPr lang="pt-BR" sz="2200" b="0" strike="noStrike" spc="-1" dirty="0" err="1">
                <a:solidFill>
                  <a:srgbClr val="000000"/>
                </a:solidFill>
                <a:uFill>
                  <a:solidFill>
                    <a:srgbClr val="FFFFFF"/>
                  </a:solidFill>
                </a:uFill>
                <a:latin typeface="Arial"/>
              </a:rPr>
              <a:t>Smart</a:t>
            </a:r>
            <a:r>
              <a:rPr lang="pt-BR" sz="2200" b="0" strike="noStrike" spc="-1" dirty="0">
                <a:solidFill>
                  <a:srgbClr val="000000"/>
                </a:solidFill>
                <a:uFill>
                  <a:solidFill>
                    <a:srgbClr val="FFFFFF"/>
                  </a:solidFill>
                </a:uFill>
                <a:latin typeface="Arial"/>
              </a:rPr>
              <a:t> TVs digitais atuais). Infelizmente, esse projeto não foi bem aceito pelas fabricantes de eletrônicos (ideia certa, época errada).</a:t>
            </a:r>
          </a:p>
          <a:p>
            <a:pPr marL="171360" indent="-171000" algn="just">
              <a:lnSpc>
                <a:spcPct val="100000"/>
              </a:lnSpc>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Entretanto, a Internet estourou na mesma época e ela era o tipo de rede interativa que a equipe do Java desejava.</a:t>
            </a:r>
          </a:p>
          <a:p>
            <a:pPr marL="171360" indent="-171000" algn="just">
              <a:lnSpc>
                <a:spcPct val="100000"/>
              </a:lnSpc>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Assim, Java passou a ter recursos de rede e execução de aplicativos em navegadores (</a:t>
            </a:r>
            <a:r>
              <a:rPr lang="pt-BR" sz="2200" b="0" strike="noStrike" spc="-1" dirty="0" err="1">
                <a:solidFill>
                  <a:srgbClr val="000000"/>
                </a:solidFill>
                <a:uFill>
                  <a:solidFill>
                    <a:srgbClr val="FFFFFF"/>
                  </a:solidFill>
                </a:uFill>
                <a:latin typeface="Arial"/>
              </a:rPr>
              <a:t>Applets</a:t>
            </a:r>
            <a:r>
              <a:rPr lang="pt-BR" sz="2200" b="0" strike="noStrike" spc="-1" dirty="0">
                <a:solidFill>
                  <a:srgbClr val="000000"/>
                </a:solidFill>
                <a:uFill>
                  <a:solidFill>
                    <a:srgbClr val="FFFFFF"/>
                  </a:solidFill>
                </a:uFill>
                <a:latin typeface="Arial"/>
              </a:rPr>
              <a:t>), característica que foi a principal responsável pelo sucesso da linguagem.</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a:solidFill>
                  <a:srgbClr val="000000"/>
                </a:solidFill>
                <a:uFill>
                  <a:solidFill>
                    <a:srgbClr val="FFFFFF"/>
                  </a:solidFill>
                </a:uFill>
                <a:latin typeface="Arial"/>
              </a:rPr>
              <a:t>Principais características</a:t>
            </a:r>
            <a:endParaRPr lang="pt-BR" sz="1800" b="0" strike="noStrike" spc="-1">
              <a:solidFill>
                <a:srgbClr val="000000"/>
              </a:solidFill>
              <a:uFill>
                <a:solidFill>
                  <a:srgbClr val="FFFFFF"/>
                </a:solidFill>
              </a:uFill>
              <a:latin typeface="Calibri"/>
            </a:endParaRPr>
          </a:p>
        </p:txBody>
      </p:sp>
      <p:sp>
        <p:nvSpPr>
          <p:cNvPr id="84" name="TextShape 2"/>
          <p:cNvSpPr txBox="1"/>
          <p:nvPr/>
        </p:nvSpPr>
        <p:spPr>
          <a:xfrm>
            <a:off x="139680" y="1625760"/>
            <a:ext cx="8851680" cy="5231880"/>
          </a:xfrm>
          <a:prstGeom prst="rect">
            <a:avLst/>
          </a:prstGeom>
          <a:noFill/>
          <a:ln>
            <a:noFill/>
          </a:ln>
        </p:spPr>
        <p:txBody>
          <a:bodyPr/>
          <a:lstStyle/>
          <a:p>
            <a:pPr marL="171360" indent="-171000" algn="just">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Paradigma</a:t>
            </a:r>
            <a:r>
              <a:rPr lang="pt-BR" sz="2200" b="0" strike="noStrike" spc="-1" dirty="0">
                <a:solidFill>
                  <a:srgbClr val="000000"/>
                </a:solidFill>
                <a:uFill>
                  <a:solidFill>
                    <a:srgbClr val="FFFFFF"/>
                  </a:solidFill>
                </a:uFill>
                <a:latin typeface="Arial"/>
              </a:rPr>
              <a:t>: imperativo e orientado a objetos</a:t>
            </a:r>
          </a:p>
          <a:p>
            <a:pPr marL="171360" indent="-171000" algn="just">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Método de implementação</a:t>
            </a:r>
            <a:r>
              <a:rPr lang="pt-BR" sz="2200" b="0" strike="noStrike" spc="-1" dirty="0">
                <a:solidFill>
                  <a:srgbClr val="000000"/>
                </a:solidFill>
                <a:uFill>
                  <a:solidFill>
                    <a:srgbClr val="FFFFFF"/>
                  </a:solidFill>
                </a:uFill>
                <a:latin typeface="Arial"/>
              </a:rPr>
              <a:t>: híbrido</a:t>
            </a:r>
          </a:p>
          <a:p>
            <a:pPr marL="171360" indent="-171000" algn="just">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Principais influências:</a:t>
            </a:r>
            <a:r>
              <a:rPr lang="pt-BR" sz="2200" b="0" strike="noStrike" spc="-1" dirty="0">
                <a:solidFill>
                  <a:srgbClr val="000000"/>
                </a:solidFill>
                <a:uFill>
                  <a:solidFill>
                    <a:srgbClr val="FFFFFF"/>
                  </a:solidFill>
                </a:uFill>
                <a:latin typeface="Arial"/>
              </a:rPr>
              <a:t> C++, Modula-3</a:t>
            </a:r>
          </a:p>
          <a:p>
            <a:pPr marL="171360" indent="-171000" algn="just">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Características gerais</a:t>
            </a:r>
            <a:r>
              <a:rPr lang="pt-BR" sz="2200" b="0" strike="noStrike" spc="-1" dirty="0">
                <a:solidFill>
                  <a:srgbClr val="000000"/>
                </a:solidFill>
                <a:uFill>
                  <a:solidFill>
                    <a:srgbClr val="FFFFFF"/>
                  </a:solidFill>
                </a:uFill>
                <a:latin typeface="Arial"/>
              </a:rPr>
              <a:t>:</a:t>
            </a:r>
          </a:p>
          <a:p>
            <a:pPr marL="514440" lvl="1" indent="-171000" algn="just">
              <a:spcAft>
                <a:spcPts val="600"/>
              </a:spcAft>
              <a:buClr>
                <a:srgbClr val="000000"/>
              </a:buClr>
              <a:buFont typeface="Arial"/>
              <a:buChar char="•"/>
            </a:pPr>
            <a:r>
              <a:rPr lang="pt-BR" sz="2000" b="0" strike="noStrike" spc="-1" dirty="0">
                <a:solidFill>
                  <a:srgbClr val="000000"/>
                </a:solidFill>
                <a:uFill>
                  <a:solidFill>
                    <a:srgbClr val="FFFFFF"/>
                  </a:solidFill>
                </a:uFill>
                <a:latin typeface="Arial"/>
              </a:rPr>
              <a:t>Linguagem de propósito geral;</a:t>
            </a:r>
            <a:endParaRPr lang="pt-BR" sz="1800" b="0" strike="noStrike" spc="-1" dirty="0">
              <a:solidFill>
                <a:srgbClr val="000000"/>
              </a:solidFill>
              <a:uFill>
                <a:solidFill>
                  <a:srgbClr val="FFFFFF"/>
                </a:solidFill>
              </a:uFill>
              <a:latin typeface="Arial"/>
            </a:endParaRPr>
          </a:p>
          <a:p>
            <a:pPr marL="514440" lvl="1" indent="-171000" algn="just">
              <a:spcAft>
                <a:spcPts val="600"/>
              </a:spcAft>
              <a:buClr>
                <a:srgbClr val="000000"/>
              </a:buClr>
              <a:buFont typeface="Arial"/>
              <a:buChar char="•"/>
            </a:pPr>
            <a:r>
              <a:rPr lang="pt-BR" sz="2000" b="0" strike="noStrike" spc="-1" dirty="0">
                <a:solidFill>
                  <a:srgbClr val="000000"/>
                </a:solidFill>
                <a:uFill>
                  <a:solidFill>
                    <a:srgbClr val="FFFFFF"/>
                  </a:solidFill>
                </a:uFill>
                <a:latin typeface="Arial"/>
              </a:rPr>
              <a:t>Possui um sistema de coleta de lixo (;</a:t>
            </a:r>
            <a:endParaRPr lang="pt-BR" sz="1800" b="0" strike="noStrike" spc="-1" dirty="0">
              <a:solidFill>
                <a:srgbClr val="000000"/>
              </a:solidFill>
              <a:uFill>
                <a:solidFill>
                  <a:srgbClr val="FFFFFF"/>
                </a:solidFill>
              </a:uFill>
              <a:latin typeface="Arial"/>
            </a:endParaRPr>
          </a:p>
          <a:p>
            <a:pPr marL="514440" lvl="1" indent="-171000" algn="just">
              <a:spcAft>
                <a:spcPts val="600"/>
              </a:spcAft>
              <a:buClr>
                <a:srgbClr val="000000"/>
              </a:buClr>
              <a:buFont typeface="Arial"/>
              <a:buChar char="•"/>
            </a:pPr>
            <a:r>
              <a:rPr lang="pt-BR" sz="2000" b="0" strike="noStrike" spc="-1" dirty="0">
                <a:solidFill>
                  <a:srgbClr val="000000"/>
                </a:solidFill>
                <a:uFill>
                  <a:solidFill>
                    <a:srgbClr val="FFFFFF"/>
                  </a:solidFill>
                </a:uFill>
                <a:latin typeface="Arial"/>
              </a:rPr>
              <a:t>A primeira com recursos para a web (</a:t>
            </a:r>
            <a:r>
              <a:rPr lang="pt-BR" sz="2000" b="0" strike="noStrike" spc="-1" dirty="0" err="1">
                <a:solidFill>
                  <a:srgbClr val="000000"/>
                </a:solidFill>
                <a:uFill>
                  <a:solidFill>
                    <a:srgbClr val="FFFFFF"/>
                  </a:solidFill>
                </a:uFill>
                <a:latin typeface="Arial"/>
              </a:rPr>
              <a:t>Applets</a:t>
            </a:r>
            <a:r>
              <a:rPr lang="pt-BR" sz="2000" b="0" strike="noStrike" spc="-1" dirty="0">
                <a:solidFill>
                  <a:srgbClr val="000000"/>
                </a:solidFill>
                <a:uFill>
                  <a:solidFill>
                    <a:srgbClr val="FFFFFF"/>
                  </a:solidFill>
                </a:uFill>
                <a:latin typeface="Arial"/>
              </a:rPr>
              <a:t>);</a:t>
            </a:r>
            <a:endParaRPr lang="pt-BR" sz="1800" b="0" strike="noStrike" spc="-1" dirty="0">
              <a:solidFill>
                <a:srgbClr val="000000"/>
              </a:solidFill>
              <a:uFill>
                <a:solidFill>
                  <a:srgbClr val="FFFFFF"/>
                </a:solidFill>
              </a:uFill>
              <a:latin typeface="Arial"/>
            </a:endParaRPr>
          </a:p>
          <a:p>
            <a:pPr marL="514440" lvl="1" indent="-171000" algn="just">
              <a:spcAft>
                <a:spcPts val="600"/>
              </a:spcAft>
              <a:buClr>
                <a:srgbClr val="000000"/>
              </a:buClr>
              <a:buFont typeface="Arial"/>
              <a:buChar char="•"/>
            </a:pPr>
            <a:r>
              <a:rPr lang="pt-BR" sz="2000" b="0" strike="noStrike" spc="-1" dirty="0">
                <a:solidFill>
                  <a:srgbClr val="000000"/>
                </a:solidFill>
                <a:uFill>
                  <a:solidFill>
                    <a:srgbClr val="FFFFFF"/>
                  </a:solidFill>
                </a:uFill>
                <a:latin typeface="Arial"/>
              </a:rPr>
              <a:t>Alta portabilidade;</a:t>
            </a:r>
          </a:p>
          <a:p>
            <a:pPr marL="514440" lvl="1" indent="-171000" algn="just">
              <a:spcAft>
                <a:spcPts val="600"/>
              </a:spcAft>
              <a:buClr>
                <a:srgbClr val="000000"/>
              </a:buClr>
              <a:buFont typeface="Arial"/>
              <a:buChar char="•"/>
            </a:pPr>
            <a:r>
              <a:rPr lang="pt-BR" sz="2000" spc="-1" dirty="0">
                <a:solidFill>
                  <a:srgbClr val="000000"/>
                </a:solidFill>
                <a:uFill>
                  <a:solidFill>
                    <a:srgbClr val="FFFFFF"/>
                  </a:solidFill>
                </a:uFill>
                <a:latin typeface="Arial"/>
              </a:rPr>
              <a:t>É uma linguagem que prioriza a confiabilidade em sacrifício da eficiência, por realizar diversas verificações e não executar muitas conversões automáticas;</a:t>
            </a:r>
            <a:endParaRPr lang="pt-BR" sz="1800" b="0" strike="noStrike" spc="-1" dirty="0">
              <a:solidFill>
                <a:srgbClr val="000000"/>
              </a:solidFill>
              <a:uFill>
                <a:solidFill>
                  <a:srgbClr val="FFFFFF"/>
                </a:solidFill>
              </a:uFill>
              <a:latin typeface="Arial"/>
            </a:endParaRPr>
          </a:p>
          <a:p>
            <a:pPr marL="514440" lvl="1" indent="-171000" algn="just">
              <a:spcAft>
                <a:spcPts val="600"/>
              </a:spcAft>
              <a:buClr>
                <a:srgbClr val="000000"/>
              </a:buClr>
              <a:buFont typeface="Arial"/>
              <a:buChar char="•"/>
            </a:pPr>
            <a:r>
              <a:rPr lang="pt-BR" sz="2000" b="0" strike="noStrike" spc="-1" dirty="0">
                <a:solidFill>
                  <a:srgbClr val="000000"/>
                </a:solidFill>
                <a:uFill>
                  <a:solidFill>
                    <a:srgbClr val="FFFFFF"/>
                  </a:solidFill>
                </a:uFill>
                <a:latin typeface="Arial"/>
              </a:rPr>
              <a:t>Uma das linguagens mais utilizadas atualmente (oscila entre o 1º e 2º lugares com o C nos principais rankings).</a:t>
            </a:r>
            <a:endParaRPr lang="pt-BR" sz="1800" b="0" strike="noStrike" spc="-1" dirty="0">
              <a:solidFill>
                <a:srgbClr val="000000"/>
              </a:solidFill>
              <a:uFill>
                <a:solidFill>
                  <a:srgbClr val="FFFFFF"/>
                </a:solidFill>
              </a:uFill>
              <a:latin typeface="Arial"/>
            </a:endParaRPr>
          </a:p>
          <a:p>
            <a:endParaRPr lang="pt-BR" sz="2200" b="0" strike="noStrike" spc="-1" dirty="0">
              <a:solidFill>
                <a:srgbClr val="000000"/>
              </a:solidFill>
              <a:uFill>
                <a:solidFill>
                  <a:srgbClr val="FFFFFF"/>
                </a:solidFill>
              </a:uFill>
              <a:latin typeface="Arial"/>
            </a:endParaRPr>
          </a:p>
          <a:p>
            <a:pPr algn="just">
              <a:lnSpc>
                <a:spcPct val="100000"/>
              </a:lnSpc>
            </a:pPr>
            <a:endParaRPr lang="pt-BR" sz="2200" b="0" strike="noStrike"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Estrutura Geral do Código</a:t>
            </a:r>
            <a:endParaRPr lang="pt-BR" sz="1800" b="0" strike="noStrike" spc="-1" dirty="0">
              <a:solidFill>
                <a:srgbClr val="000000"/>
              </a:solidFill>
              <a:uFill>
                <a:solidFill>
                  <a:srgbClr val="FFFFFF"/>
                </a:solidFill>
              </a:uFill>
              <a:latin typeface="Calibri"/>
            </a:endParaRPr>
          </a:p>
        </p:txBody>
      </p:sp>
      <p:sp>
        <p:nvSpPr>
          <p:cNvPr id="84" name="TextShape 2"/>
          <p:cNvSpPr txBox="1"/>
          <p:nvPr/>
        </p:nvSpPr>
        <p:spPr>
          <a:xfrm>
            <a:off x="139680" y="1625760"/>
            <a:ext cx="8851680" cy="5231880"/>
          </a:xfrm>
          <a:prstGeom prst="rect">
            <a:avLst/>
          </a:prstGeom>
          <a:noFill/>
          <a:ln>
            <a:noFill/>
          </a:ln>
        </p:spPr>
        <p:txBody>
          <a:bodyPr/>
          <a:lstStyle/>
          <a:p>
            <a:pPr marL="171360"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A estrutura básica é a classe;</a:t>
            </a:r>
          </a:p>
          <a:p>
            <a:pPr marL="171360" indent="-171000" algn="just">
              <a:spcAft>
                <a:spcPts val="600"/>
              </a:spcAft>
              <a:buClr>
                <a:srgbClr val="000000"/>
              </a:buClr>
              <a:buFont typeface="Arial"/>
              <a:buChar char="•"/>
            </a:pPr>
            <a:endParaRPr lang="pt-BR" sz="2200" spc="-1" dirty="0">
              <a:solidFill>
                <a:srgbClr val="000000"/>
              </a:solidFill>
              <a:uFill>
                <a:solidFill>
                  <a:srgbClr val="FFFFFF"/>
                </a:solidFill>
              </a:uFill>
            </a:endParaRPr>
          </a:p>
          <a:p>
            <a:pPr marL="171360" indent="-171000" algn="just">
              <a:spcAft>
                <a:spcPts val="600"/>
              </a:spcAft>
              <a:buClr>
                <a:srgbClr val="000000"/>
              </a:buClr>
              <a:buFont typeface="Arial"/>
              <a:buChar char="•"/>
            </a:pPr>
            <a:r>
              <a:rPr lang="pt-BR" sz="2200" spc="-1" dirty="0">
                <a:solidFill>
                  <a:srgbClr val="000000"/>
                </a:solidFill>
                <a:uFill>
                  <a:solidFill>
                    <a:srgbClr val="FFFFFF"/>
                  </a:solidFill>
                </a:uFill>
              </a:rPr>
              <a:t>Não é possível criar variáveis nem subprogramas fora das classes;</a:t>
            </a:r>
            <a:endParaRPr lang="pt-BR" spc="-1" dirty="0">
              <a:solidFill>
                <a:srgbClr val="000000"/>
              </a:solidFill>
              <a:uFill>
                <a:solidFill>
                  <a:srgbClr val="FFFFFF"/>
                </a:solidFill>
              </a:uFill>
            </a:endParaRPr>
          </a:p>
          <a:p>
            <a:pPr marL="171360" indent="-171000" algn="just">
              <a:spcAft>
                <a:spcPts val="600"/>
              </a:spcAft>
              <a:buClr>
                <a:srgbClr val="000000"/>
              </a:buClr>
              <a:buFont typeface="Arial"/>
              <a:buChar char="•"/>
            </a:pPr>
            <a:endParaRPr lang="pt-BR" sz="2200" spc="-1" dirty="0">
              <a:solidFill>
                <a:srgbClr val="000000"/>
              </a:solidFill>
              <a:uFill>
                <a:solidFill>
                  <a:srgbClr val="FFFFFF"/>
                </a:solidFill>
              </a:uFill>
              <a:latin typeface="Arial"/>
            </a:endParaRPr>
          </a:p>
          <a:p>
            <a:pPr marL="171360"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Todo arquivo contém pelo menos uma classe pública, e ela dá nome ao arquivo;</a:t>
            </a:r>
          </a:p>
          <a:p>
            <a:pPr marL="171360" indent="-171000" algn="just">
              <a:spcAft>
                <a:spcPts val="600"/>
              </a:spcAft>
              <a:buClr>
                <a:srgbClr val="000000"/>
              </a:buClr>
              <a:buFont typeface="Arial"/>
              <a:buChar char="•"/>
            </a:pPr>
            <a:endParaRPr lang="pt-BR" sz="2200" spc="-1" dirty="0">
              <a:solidFill>
                <a:srgbClr val="000000"/>
              </a:solidFill>
              <a:uFill>
                <a:solidFill>
                  <a:srgbClr val="FFFFFF"/>
                </a:solidFill>
              </a:uFill>
            </a:endParaRPr>
          </a:p>
          <a:p>
            <a:pPr marL="171360" indent="-171000" algn="just">
              <a:spcAft>
                <a:spcPts val="600"/>
              </a:spcAft>
              <a:buClr>
                <a:srgbClr val="000000"/>
              </a:buClr>
              <a:buFont typeface="Arial"/>
              <a:buChar char="•"/>
            </a:pPr>
            <a:r>
              <a:rPr lang="pt-BR" sz="2200" spc="-1" dirty="0">
                <a:solidFill>
                  <a:srgbClr val="000000"/>
                </a:solidFill>
                <a:uFill>
                  <a:solidFill>
                    <a:srgbClr val="FFFFFF"/>
                  </a:solidFill>
                </a:uFill>
              </a:rPr>
              <a:t>Toda expressão termina com ponto-e-vírgula;</a:t>
            </a:r>
          </a:p>
          <a:p>
            <a:endParaRPr lang="pt-BR" sz="2200" b="0" strike="noStrike" spc="-1" dirty="0">
              <a:solidFill>
                <a:srgbClr val="000000"/>
              </a:solidFill>
              <a:uFill>
                <a:solidFill>
                  <a:srgbClr val="FFFFFF"/>
                </a:solidFill>
              </a:uFill>
              <a:latin typeface="Arial"/>
            </a:endParaRPr>
          </a:p>
          <a:p>
            <a:pPr algn="just">
              <a:lnSpc>
                <a:spcPct val="100000"/>
              </a:lnSpc>
            </a:pPr>
            <a:endParaRPr lang="pt-BR" sz="2200" b="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314200077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a:solidFill>
                  <a:srgbClr val="000000"/>
                </a:solidFill>
                <a:uFill>
                  <a:solidFill>
                    <a:srgbClr val="FFFFFF"/>
                  </a:solidFill>
                </a:uFill>
                <a:latin typeface="Arial"/>
              </a:rPr>
              <a:t>Nomes</a:t>
            </a:r>
            <a:endParaRPr lang="pt-BR" sz="1800" b="0" strike="noStrike" spc="-1">
              <a:solidFill>
                <a:srgbClr val="000000"/>
              </a:solidFill>
              <a:uFill>
                <a:solidFill>
                  <a:srgbClr val="FFFFFF"/>
                </a:solidFill>
              </a:uFill>
              <a:latin typeface="Calibri"/>
            </a:endParaRPr>
          </a:p>
        </p:txBody>
      </p:sp>
      <p:sp>
        <p:nvSpPr>
          <p:cNvPr id="86" name="TextShape 2"/>
          <p:cNvSpPr txBox="1"/>
          <p:nvPr/>
        </p:nvSpPr>
        <p:spPr>
          <a:xfrm>
            <a:off x="139680" y="1625760"/>
            <a:ext cx="8851680" cy="5231880"/>
          </a:xfrm>
          <a:prstGeom prst="rect">
            <a:avLst/>
          </a:prstGeom>
          <a:noFill/>
          <a:ln>
            <a:noFill/>
          </a:ln>
        </p:spPr>
        <p:txBody>
          <a:bodyPr/>
          <a:lstStyle/>
          <a:p>
            <a:pPr marL="171360"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Case-</a:t>
            </a:r>
            <a:r>
              <a:rPr lang="pt-BR" sz="2200" b="0" strike="noStrike" spc="-1" dirty="0" err="1">
                <a:solidFill>
                  <a:srgbClr val="000000"/>
                </a:solidFill>
                <a:uFill>
                  <a:solidFill>
                    <a:srgbClr val="FFFFFF"/>
                  </a:solidFill>
                </a:uFill>
                <a:latin typeface="Arial"/>
              </a:rPr>
              <a:t>sensitive</a:t>
            </a:r>
            <a:r>
              <a:rPr lang="pt-BR" sz="2200" b="0" strike="noStrike" spc="-1" dirty="0">
                <a:solidFill>
                  <a:srgbClr val="000000"/>
                </a:solidFill>
                <a:uFill>
                  <a:solidFill>
                    <a:srgbClr val="FFFFFF"/>
                  </a:solidFill>
                </a:uFill>
                <a:latin typeface="Arial"/>
              </a:rPr>
              <a:t>.</a:t>
            </a:r>
          </a:p>
          <a:p>
            <a:pPr marL="171360"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Padrão Unicode.</a:t>
            </a:r>
          </a:p>
          <a:p>
            <a:pPr marL="171360"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As palavras especiais são reservadas.</a:t>
            </a:r>
          </a:p>
          <a:p>
            <a:pPr marL="171360"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Não há limites no tamanho dos nomes;</a:t>
            </a:r>
          </a:p>
          <a:p>
            <a:pPr marL="171360"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Nomes começam obrigatoriamente com letras e podem ter letras, números e </a:t>
            </a:r>
            <a:r>
              <a:rPr lang="pt-BR" sz="2200" b="0" i="1" strike="noStrike" spc="-1" dirty="0" err="1">
                <a:solidFill>
                  <a:srgbClr val="000000"/>
                </a:solidFill>
                <a:uFill>
                  <a:solidFill>
                    <a:srgbClr val="FFFFFF"/>
                  </a:solidFill>
                </a:uFill>
                <a:latin typeface="Arial"/>
              </a:rPr>
              <a:t>underline</a:t>
            </a:r>
            <a:r>
              <a:rPr lang="pt-BR" sz="2200" b="0" i="1" strike="noStrike" spc="-1" dirty="0">
                <a:solidFill>
                  <a:srgbClr val="000000"/>
                </a:solidFill>
                <a:uFill>
                  <a:solidFill>
                    <a:srgbClr val="FFFFFF"/>
                  </a:solidFill>
                </a:uFill>
                <a:latin typeface="Arial"/>
              </a:rPr>
              <a:t> (_)</a:t>
            </a:r>
            <a:r>
              <a:rPr lang="pt-BR" sz="2200" b="0" strike="noStrike" spc="-1" dirty="0">
                <a:solidFill>
                  <a:srgbClr val="000000"/>
                </a:solidFill>
                <a:uFill>
                  <a:solidFill>
                    <a:srgbClr val="FFFFFF"/>
                  </a:solidFill>
                </a:uFill>
                <a:latin typeface="Arial"/>
              </a:rPr>
              <a:t>.</a:t>
            </a:r>
          </a:p>
          <a:p>
            <a:pPr marL="171360"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Porém recomenda-se que:</a:t>
            </a:r>
          </a:p>
          <a:p>
            <a:pPr marL="514440" lvl="1" indent="-171000" algn="just">
              <a:spcAft>
                <a:spcPts val="600"/>
              </a:spcAft>
              <a:buClr>
                <a:srgbClr val="000000"/>
              </a:buClr>
              <a:buFont typeface="Arial"/>
              <a:buChar char="•"/>
            </a:pPr>
            <a:r>
              <a:rPr lang="pt-BR" sz="2000" b="0" strike="noStrike" spc="-1" dirty="0">
                <a:solidFill>
                  <a:srgbClr val="000000"/>
                </a:solidFill>
                <a:uFill>
                  <a:solidFill>
                    <a:srgbClr val="FFFFFF"/>
                  </a:solidFill>
                </a:uFill>
                <a:latin typeface="Arial"/>
              </a:rPr>
              <a:t>nomes de classes comecem com letras maiúsculas; </a:t>
            </a:r>
            <a:endParaRPr lang="pt-BR" sz="1800" b="0" strike="noStrike" spc="-1" dirty="0">
              <a:solidFill>
                <a:srgbClr val="000000"/>
              </a:solidFill>
              <a:uFill>
                <a:solidFill>
                  <a:srgbClr val="FFFFFF"/>
                </a:solidFill>
              </a:uFill>
              <a:latin typeface="Arial"/>
            </a:endParaRPr>
          </a:p>
          <a:p>
            <a:pPr marL="514440" lvl="1" indent="-171000" algn="just">
              <a:spcAft>
                <a:spcPts val="600"/>
              </a:spcAft>
              <a:buClr>
                <a:srgbClr val="000000"/>
              </a:buClr>
              <a:buFont typeface="Arial"/>
              <a:buChar char="•"/>
            </a:pPr>
            <a:r>
              <a:rPr lang="pt-BR" sz="2000" b="0" strike="noStrike" spc="-1" dirty="0">
                <a:solidFill>
                  <a:srgbClr val="000000"/>
                </a:solidFill>
                <a:uFill>
                  <a:solidFill>
                    <a:srgbClr val="FFFFFF"/>
                  </a:solidFill>
                </a:uFill>
                <a:latin typeface="Arial"/>
              </a:rPr>
              <a:t>nomes de constantes sejam escritos somente com letras maiúsculas e </a:t>
            </a:r>
            <a:r>
              <a:rPr lang="pt-BR" sz="2000" b="0" i="1" strike="noStrike" spc="-1" dirty="0" err="1">
                <a:solidFill>
                  <a:srgbClr val="000000"/>
                </a:solidFill>
                <a:uFill>
                  <a:solidFill>
                    <a:srgbClr val="FFFFFF"/>
                  </a:solidFill>
                </a:uFill>
                <a:latin typeface="Arial"/>
              </a:rPr>
              <a:t>underline</a:t>
            </a:r>
            <a:r>
              <a:rPr lang="pt-BR" sz="2000" b="0" i="1" strike="noStrike" spc="-1" dirty="0">
                <a:solidFill>
                  <a:srgbClr val="000000"/>
                </a:solidFill>
                <a:uFill>
                  <a:solidFill>
                    <a:srgbClr val="FFFFFF"/>
                  </a:solidFill>
                </a:uFill>
                <a:latin typeface="Arial"/>
              </a:rPr>
              <a:t>;</a:t>
            </a:r>
            <a:r>
              <a:rPr lang="pt-BR" sz="2000" b="0" strike="noStrike" spc="-1" dirty="0">
                <a:solidFill>
                  <a:srgbClr val="000000"/>
                </a:solidFill>
                <a:uFill>
                  <a:solidFill>
                    <a:srgbClr val="FFFFFF"/>
                  </a:solidFill>
                </a:uFill>
                <a:latin typeface="Arial"/>
              </a:rPr>
              <a:t> e </a:t>
            </a:r>
            <a:endParaRPr lang="pt-BR" sz="1800" b="0" strike="noStrike" spc="-1" dirty="0">
              <a:solidFill>
                <a:srgbClr val="000000"/>
              </a:solidFill>
              <a:uFill>
                <a:solidFill>
                  <a:srgbClr val="FFFFFF"/>
                </a:solidFill>
              </a:uFill>
              <a:latin typeface="Arial"/>
            </a:endParaRPr>
          </a:p>
          <a:p>
            <a:pPr marL="514440" lvl="1" indent="-171000" algn="just">
              <a:spcAft>
                <a:spcPts val="600"/>
              </a:spcAft>
              <a:buClr>
                <a:srgbClr val="000000"/>
              </a:buClr>
              <a:buFont typeface="Arial"/>
              <a:buChar char="•"/>
            </a:pPr>
            <a:r>
              <a:rPr lang="pt-BR" sz="2000" b="0" strike="noStrike" spc="-1" dirty="0">
                <a:solidFill>
                  <a:srgbClr val="000000"/>
                </a:solidFill>
                <a:uFill>
                  <a:solidFill>
                    <a:srgbClr val="FFFFFF"/>
                  </a:solidFill>
                </a:uFill>
                <a:latin typeface="Arial"/>
              </a:rPr>
              <a:t>todos os demais nomes iniciem com letras minúsculas. </a:t>
            </a:r>
            <a:endParaRPr lang="pt-BR" sz="1800" b="0" strike="noStrike"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a:solidFill>
                  <a:srgbClr val="000000"/>
                </a:solidFill>
                <a:uFill>
                  <a:solidFill>
                    <a:srgbClr val="FFFFFF"/>
                  </a:solidFill>
                </a:uFill>
                <a:latin typeface="Arial"/>
              </a:rPr>
              <a:t>Variáveis</a:t>
            </a:r>
            <a:endParaRPr lang="pt-BR" sz="1800" b="0" strike="noStrike" spc="-1">
              <a:solidFill>
                <a:srgbClr val="000000"/>
              </a:solidFill>
              <a:uFill>
                <a:solidFill>
                  <a:srgbClr val="FFFFFF"/>
                </a:solidFill>
              </a:uFill>
              <a:latin typeface="Calibri"/>
            </a:endParaRPr>
          </a:p>
        </p:txBody>
      </p:sp>
      <p:sp>
        <p:nvSpPr>
          <p:cNvPr id="88"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Vinculação de tipo:</a:t>
            </a:r>
            <a:r>
              <a:rPr lang="pt-BR" sz="2200" b="0" strike="noStrike" spc="-1" dirty="0">
                <a:solidFill>
                  <a:srgbClr val="000000"/>
                </a:solidFill>
                <a:uFill>
                  <a:solidFill>
                    <a:srgbClr val="FFFFFF"/>
                  </a:solidFill>
                </a:uFill>
                <a:latin typeface="Arial"/>
              </a:rPr>
              <a:t> estática e explícita.</a:t>
            </a:r>
          </a:p>
          <a:p>
            <a:pPr algn="just">
              <a:lnSpc>
                <a:spcPct val="100000"/>
              </a:lnSpc>
              <a:spcAft>
                <a:spcPts val="600"/>
              </a:spcAft>
            </a:pPr>
            <a:r>
              <a:rPr lang="pt-BR" sz="2200" b="0" strike="noStrike" spc="-1" dirty="0">
                <a:solidFill>
                  <a:srgbClr val="000000"/>
                </a:solidFill>
                <a:uFill>
                  <a:solidFill>
                    <a:srgbClr val="FFFFFF"/>
                  </a:solidFill>
                </a:uFill>
                <a:latin typeface="Arial"/>
              </a:rPr>
              <a:t>	</a:t>
            </a:r>
            <a:r>
              <a:rPr lang="pt-BR" sz="2200" b="0" strike="noStrike" spc="-1" dirty="0" err="1">
                <a:solidFill>
                  <a:srgbClr val="000000"/>
                </a:solidFill>
                <a:uFill>
                  <a:solidFill>
                    <a:srgbClr val="FFFFFF"/>
                  </a:solidFill>
                </a:uFill>
                <a:latin typeface="Courier New"/>
              </a:rPr>
              <a:t>int</a:t>
            </a:r>
            <a:r>
              <a:rPr lang="pt-BR" sz="2200" b="0" strike="noStrike" spc="-1" dirty="0">
                <a:solidFill>
                  <a:srgbClr val="000000"/>
                </a:solidFill>
                <a:uFill>
                  <a:solidFill>
                    <a:srgbClr val="FFFFFF"/>
                  </a:solidFill>
                </a:uFill>
                <a:latin typeface="Courier New"/>
              </a:rPr>
              <a:t> x;	Pessoa p;</a:t>
            </a:r>
            <a:endParaRPr lang="pt-BR" sz="2200" b="0" strike="noStrike" spc="-1" dirty="0">
              <a:solidFill>
                <a:srgbClr val="000000"/>
              </a:solidFill>
              <a:uFill>
                <a:solidFill>
                  <a:srgbClr val="FFFFFF"/>
                </a:solidFill>
              </a:uFill>
              <a:latin typeface="Arial"/>
            </a:endParaRPr>
          </a:p>
          <a:p>
            <a:pPr algn="just">
              <a:lnSpc>
                <a:spcPct val="100000"/>
              </a:lnSpc>
              <a:spcAft>
                <a:spcPts val="600"/>
              </a:spcAft>
            </a:pPr>
            <a:endParaRPr lang="pt-BR" sz="2200" b="0" strike="noStrike" spc="-1" dirty="0">
              <a:solidFill>
                <a:srgbClr val="000000"/>
              </a:solidFill>
              <a:uFill>
                <a:solidFill>
                  <a:srgbClr val="FFFFFF"/>
                </a:solidFill>
              </a:uFill>
              <a:latin typeface="Arial"/>
            </a:endParaRPr>
          </a:p>
          <a:p>
            <a:pPr marL="171360" indent="-171000" algn="just">
              <a:lnSpc>
                <a:spcPct val="100000"/>
              </a:lnSpc>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Aceita as seguintes formas de vinculação de armazenamento:</a:t>
            </a:r>
          </a:p>
          <a:p>
            <a:pPr marL="514440" lvl="1" indent="-171000" algn="just">
              <a:lnSpc>
                <a:spcPct val="100000"/>
              </a:lnSpc>
              <a:spcAft>
                <a:spcPts val="600"/>
              </a:spcAft>
              <a:buClr>
                <a:srgbClr val="000000"/>
              </a:buClr>
              <a:buFont typeface="Arial"/>
              <a:buChar char="•"/>
            </a:pPr>
            <a:r>
              <a:rPr lang="pt-BR" sz="2000" b="1" strike="noStrike" spc="-1" dirty="0">
                <a:solidFill>
                  <a:srgbClr val="000000"/>
                </a:solidFill>
                <a:uFill>
                  <a:solidFill>
                    <a:srgbClr val="FFFFFF"/>
                  </a:solidFill>
                </a:uFill>
                <a:latin typeface="Arial"/>
              </a:rPr>
              <a:t>Variáveis estáticas</a:t>
            </a:r>
            <a:r>
              <a:rPr lang="pt-BR" sz="2000" b="0" strike="noStrike" spc="-1" dirty="0">
                <a:solidFill>
                  <a:srgbClr val="000000"/>
                </a:solidFill>
                <a:uFill>
                  <a:solidFill>
                    <a:srgbClr val="FFFFFF"/>
                  </a:solidFill>
                </a:uFill>
                <a:latin typeface="Arial"/>
              </a:rPr>
              <a:t>: atributos de classe criados com o comando </a:t>
            </a:r>
            <a:r>
              <a:rPr lang="pt-BR" sz="2000" b="0" i="1" strike="noStrike" spc="-1" dirty="0" err="1">
                <a:solidFill>
                  <a:srgbClr val="000000"/>
                </a:solidFill>
                <a:uFill>
                  <a:solidFill>
                    <a:srgbClr val="FFFFFF"/>
                  </a:solidFill>
                </a:uFill>
                <a:latin typeface="Arial"/>
              </a:rPr>
              <a:t>static</a:t>
            </a:r>
            <a:r>
              <a:rPr lang="pt-BR" sz="2000" b="0" strike="noStrike" spc="-1" dirty="0">
                <a:solidFill>
                  <a:srgbClr val="000000"/>
                </a:solidFill>
                <a:uFill>
                  <a:solidFill>
                    <a:srgbClr val="FFFFFF"/>
                  </a:solidFill>
                </a:uFill>
                <a:latin typeface="Arial"/>
              </a:rPr>
              <a:t>.</a:t>
            </a:r>
            <a:endParaRPr lang="pt-BR" sz="1800" b="0" strike="noStrike" spc="-1" dirty="0">
              <a:solidFill>
                <a:srgbClr val="000000"/>
              </a:solidFill>
              <a:uFill>
                <a:solidFill>
                  <a:srgbClr val="FFFFFF"/>
                </a:solidFill>
              </a:uFill>
              <a:latin typeface="Arial"/>
            </a:endParaRPr>
          </a:p>
          <a:p>
            <a:pPr marL="343080" algn="just">
              <a:spcAft>
                <a:spcPts val="600"/>
              </a:spcAft>
            </a:pPr>
            <a:r>
              <a:rPr lang="pt-BR" sz="2000" b="0" strike="noStrike" spc="-1" dirty="0">
                <a:solidFill>
                  <a:srgbClr val="000000"/>
                </a:solidFill>
                <a:uFill>
                  <a:solidFill>
                    <a:srgbClr val="FFFFFF"/>
                  </a:solidFill>
                </a:uFill>
                <a:latin typeface="Arial"/>
              </a:rPr>
              <a:t>	</a:t>
            </a:r>
            <a:r>
              <a:rPr lang="pt-BR" sz="2000" b="0" strike="noStrike" spc="-1" dirty="0" err="1">
                <a:solidFill>
                  <a:srgbClr val="000000"/>
                </a:solidFill>
                <a:uFill>
                  <a:solidFill>
                    <a:srgbClr val="FFFFFF"/>
                  </a:solidFill>
                </a:uFill>
                <a:latin typeface="Courier New"/>
              </a:rPr>
              <a:t>private</a:t>
            </a:r>
            <a:r>
              <a:rPr lang="pt-BR" sz="2000" b="0" strike="noStrike" spc="-1" dirty="0">
                <a:solidFill>
                  <a:srgbClr val="000000"/>
                </a:solidFill>
                <a:uFill>
                  <a:solidFill>
                    <a:srgbClr val="FFFFFF"/>
                  </a:solidFill>
                </a:uFill>
                <a:latin typeface="Courier New"/>
              </a:rPr>
              <a:t> </a:t>
            </a:r>
            <a:r>
              <a:rPr lang="pt-BR" sz="2000" b="1" strike="noStrike" spc="-1" dirty="0" err="1">
                <a:solidFill>
                  <a:srgbClr val="000000"/>
                </a:solidFill>
                <a:uFill>
                  <a:solidFill>
                    <a:srgbClr val="FFFFFF"/>
                  </a:solidFill>
                </a:uFill>
                <a:latin typeface="Courier New"/>
              </a:rPr>
              <a:t>static</a:t>
            </a:r>
            <a:r>
              <a:rPr lang="pt-BR" sz="2000" b="0" strike="noStrike" spc="-1" dirty="0">
                <a:solidFill>
                  <a:srgbClr val="000000"/>
                </a:solidFill>
                <a:uFill>
                  <a:solidFill>
                    <a:srgbClr val="FFFFFF"/>
                  </a:solidFill>
                </a:uFill>
                <a:latin typeface="Courier New"/>
              </a:rPr>
              <a:t> </a:t>
            </a:r>
            <a:r>
              <a:rPr lang="pt-BR" sz="2000" b="0" strike="noStrike" spc="-1" dirty="0" err="1">
                <a:solidFill>
                  <a:srgbClr val="000000"/>
                </a:solidFill>
                <a:uFill>
                  <a:solidFill>
                    <a:srgbClr val="FFFFFF"/>
                  </a:solidFill>
                </a:uFill>
                <a:latin typeface="Courier New"/>
              </a:rPr>
              <a:t>int</a:t>
            </a:r>
            <a:r>
              <a:rPr lang="pt-BR" sz="2000" b="0" strike="noStrike" spc="-1" dirty="0">
                <a:solidFill>
                  <a:srgbClr val="000000"/>
                </a:solidFill>
                <a:uFill>
                  <a:solidFill>
                    <a:srgbClr val="FFFFFF"/>
                  </a:solidFill>
                </a:uFill>
                <a:latin typeface="Courier New"/>
              </a:rPr>
              <a:t> quantidade;</a:t>
            </a:r>
            <a:r>
              <a:rPr lang="pt-BR" sz="2000" b="0" strike="noStrike" spc="-1" dirty="0">
                <a:solidFill>
                  <a:srgbClr val="000000"/>
                </a:solidFill>
                <a:uFill>
                  <a:solidFill>
                    <a:srgbClr val="FFFFFF"/>
                  </a:solidFill>
                </a:uFill>
                <a:latin typeface="Arial"/>
              </a:rPr>
              <a:t>   </a:t>
            </a:r>
          </a:p>
          <a:p>
            <a:pPr marL="343080" algn="just">
              <a:spcAft>
                <a:spcPts val="600"/>
              </a:spcAft>
            </a:pPr>
            <a:endParaRPr lang="pt-BR" sz="2200" b="0" strike="noStrike" spc="-1" dirty="0">
              <a:solidFill>
                <a:srgbClr val="000000"/>
              </a:solidFill>
              <a:uFill>
                <a:solidFill>
                  <a:srgbClr val="FFFFFF"/>
                </a:solidFill>
              </a:uFill>
              <a:latin typeface="Arial"/>
            </a:endParaRPr>
          </a:p>
          <a:p>
            <a:pPr marL="514440" lvl="1" indent="-171000" algn="just">
              <a:lnSpc>
                <a:spcPct val="100000"/>
              </a:lnSpc>
              <a:spcAft>
                <a:spcPts val="600"/>
              </a:spcAft>
              <a:buClr>
                <a:srgbClr val="000000"/>
              </a:buClr>
              <a:buFont typeface="Arial"/>
              <a:buChar char="•"/>
            </a:pPr>
            <a:r>
              <a:rPr lang="pt-BR" sz="2000" b="1" strike="noStrike" spc="-1" dirty="0">
                <a:solidFill>
                  <a:srgbClr val="000000"/>
                </a:solidFill>
                <a:uFill>
                  <a:solidFill>
                    <a:srgbClr val="FFFFFF"/>
                  </a:solidFill>
                </a:uFill>
                <a:latin typeface="Arial"/>
              </a:rPr>
              <a:t>Variáveis dinâmicas da pilha</a:t>
            </a:r>
            <a:r>
              <a:rPr lang="pt-BR" sz="2000" b="0" strike="noStrike" spc="-1" dirty="0">
                <a:solidFill>
                  <a:srgbClr val="000000"/>
                </a:solidFill>
                <a:uFill>
                  <a:solidFill>
                    <a:srgbClr val="FFFFFF"/>
                  </a:solidFill>
                </a:uFill>
                <a:latin typeface="Arial"/>
              </a:rPr>
              <a:t>: variáveis de tipos primitivos locais e parâmetros dos métodos;</a:t>
            </a:r>
          </a:p>
          <a:p>
            <a:pPr marL="514440" lvl="1" indent="-171000" algn="just">
              <a:lnSpc>
                <a:spcPct val="100000"/>
              </a:lnSpc>
              <a:spcAft>
                <a:spcPts val="600"/>
              </a:spcAft>
              <a:buClr>
                <a:srgbClr val="000000"/>
              </a:buClr>
              <a:buFont typeface="Arial"/>
              <a:buChar char="•"/>
            </a:pPr>
            <a:endParaRPr lang="pt-BR" sz="1800" b="0" strike="noStrike" spc="-1" dirty="0">
              <a:solidFill>
                <a:srgbClr val="000000"/>
              </a:solidFill>
              <a:uFill>
                <a:solidFill>
                  <a:srgbClr val="FFFFFF"/>
                </a:solidFill>
              </a:uFill>
              <a:latin typeface="Arial"/>
            </a:endParaRPr>
          </a:p>
          <a:p>
            <a:pPr marL="514440" lvl="1" indent="-171000" algn="just">
              <a:lnSpc>
                <a:spcPct val="100000"/>
              </a:lnSpc>
              <a:spcAft>
                <a:spcPts val="600"/>
              </a:spcAft>
              <a:buClr>
                <a:srgbClr val="000000"/>
              </a:buClr>
              <a:buFont typeface="Arial"/>
              <a:buChar char="•"/>
            </a:pPr>
            <a:r>
              <a:rPr lang="pt-BR" sz="2000" b="1" strike="noStrike" spc="-1" dirty="0">
                <a:solidFill>
                  <a:srgbClr val="000000"/>
                </a:solidFill>
                <a:uFill>
                  <a:solidFill>
                    <a:srgbClr val="FFFFFF"/>
                  </a:solidFill>
                </a:uFill>
                <a:latin typeface="Arial"/>
              </a:rPr>
              <a:t>Variáveis dinâmicas do monte explícitas</a:t>
            </a:r>
            <a:r>
              <a:rPr lang="pt-BR" sz="2000" b="0" strike="noStrike" spc="-1" dirty="0">
                <a:solidFill>
                  <a:srgbClr val="000000"/>
                </a:solidFill>
                <a:uFill>
                  <a:solidFill>
                    <a:srgbClr val="FFFFFF"/>
                  </a:solidFill>
                </a:uFill>
                <a:latin typeface="Arial"/>
              </a:rPr>
              <a:t>: todos os objetos de classes são criados com o comando </a:t>
            </a:r>
            <a:r>
              <a:rPr lang="pt-BR" sz="2000" b="0" i="1" strike="noStrike" spc="-1" dirty="0">
                <a:solidFill>
                  <a:srgbClr val="000000"/>
                </a:solidFill>
                <a:uFill>
                  <a:solidFill>
                    <a:srgbClr val="FFFFFF"/>
                  </a:solidFill>
                </a:uFill>
                <a:latin typeface="Arial"/>
              </a:rPr>
              <a:t>new</a:t>
            </a:r>
            <a:r>
              <a:rPr lang="pt-BR" sz="2000" b="0" strike="noStrike" spc="-1" dirty="0">
                <a:solidFill>
                  <a:srgbClr val="000000"/>
                </a:solidFill>
                <a:uFill>
                  <a:solidFill>
                    <a:srgbClr val="FFFFFF"/>
                  </a:solidFill>
                </a:uFill>
                <a:latin typeface="Arial"/>
              </a:rPr>
              <a:t>.</a:t>
            </a:r>
            <a:endParaRPr lang="pt-BR" sz="1800" b="0" strike="noStrike" spc="-1" dirty="0">
              <a:solidFill>
                <a:srgbClr val="000000"/>
              </a:solidFill>
              <a:uFill>
                <a:solidFill>
                  <a:srgbClr val="FFFFFF"/>
                </a:solidFill>
              </a:uFill>
              <a:latin typeface="Arial"/>
            </a:endParaRPr>
          </a:p>
          <a:p>
            <a:pPr marL="343080" algn="just">
              <a:spcAft>
                <a:spcPts val="600"/>
              </a:spcAft>
            </a:pPr>
            <a:r>
              <a:rPr lang="pt-BR" sz="2000" b="0" strike="noStrike" spc="-1" dirty="0">
                <a:solidFill>
                  <a:srgbClr val="000000"/>
                </a:solidFill>
                <a:uFill>
                  <a:solidFill>
                    <a:srgbClr val="FFFFFF"/>
                  </a:solidFill>
                </a:uFill>
                <a:latin typeface="Arial"/>
              </a:rPr>
              <a:t>	</a:t>
            </a:r>
            <a:r>
              <a:rPr lang="pt-BR" sz="2000" b="0" strike="noStrike" spc="-1" dirty="0">
                <a:solidFill>
                  <a:srgbClr val="000000"/>
                </a:solidFill>
                <a:uFill>
                  <a:solidFill>
                    <a:srgbClr val="FFFFFF"/>
                  </a:solidFill>
                </a:uFill>
                <a:latin typeface="Courier New"/>
              </a:rPr>
              <a:t>Pessoa p = </a:t>
            </a:r>
            <a:r>
              <a:rPr lang="pt-BR" sz="2000" b="1" strike="noStrike" spc="-1" dirty="0">
                <a:solidFill>
                  <a:srgbClr val="000000"/>
                </a:solidFill>
                <a:uFill>
                  <a:solidFill>
                    <a:srgbClr val="FFFFFF"/>
                  </a:solidFill>
                </a:uFill>
                <a:latin typeface="Courier New"/>
              </a:rPr>
              <a:t>new</a:t>
            </a:r>
            <a:r>
              <a:rPr lang="pt-BR" sz="2000" b="0" strike="noStrike" spc="-1" dirty="0">
                <a:solidFill>
                  <a:srgbClr val="000000"/>
                </a:solidFill>
                <a:uFill>
                  <a:solidFill>
                    <a:srgbClr val="FFFFFF"/>
                  </a:solidFill>
                </a:uFill>
                <a:latin typeface="Courier New"/>
              </a:rPr>
              <a:t> Pessoa();</a:t>
            </a:r>
            <a:endParaRPr lang="pt-BR" sz="2200" b="0" strike="noStrike" spc="-1" dirty="0">
              <a:solidFill>
                <a:srgbClr val="000000"/>
              </a:solidFill>
              <a:uFill>
                <a:solidFill>
                  <a:srgbClr val="FFFFFF"/>
                </a:solidFill>
              </a:uFill>
              <a:latin typeface="Arial"/>
            </a:endParaRPr>
          </a:p>
          <a:p>
            <a:endParaRPr lang="pt-BR" sz="2200" b="0" strike="noStrike"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a:solidFill>
                  <a:srgbClr val="000000"/>
                </a:solidFill>
                <a:uFill>
                  <a:solidFill>
                    <a:srgbClr val="FFFFFF"/>
                  </a:solidFill>
                </a:uFill>
                <a:latin typeface="Arial"/>
              </a:rPr>
              <a:t>Variáveis</a:t>
            </a:r>
            <a:endParaRPr lang="pt-BR" sz="1800" b="0" strike="noStrike" spc="-1">
              <a:solidFill>
                <a:srgbClr val="000000"/>
              </a:solidFill>
              <a:uFill>
                <a:solidFill>
                  <a:srgbClr val="FFFFFF"/>
                </a:solidFill>
              </a:uFill>
              <a:latin typeface="Calibri"/>
            </a:endParaRPr>
          </a:p>
        </p:txBody>
      </p:sp>
      <p:sp>
        <p:nvSpPr>
          <p:cNvPr id="90"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Escopo</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A maioria das variáveis possuem escopo estático;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Atributos de classe têm escopo dentro da classe;</a:t>
            </a:r>
          </a:p>
          <a:p>
            <a:pPr marL="628560" lvl="1"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Atributos de classe estáticos que possuem escopo global;</a:t>
            </a:r>
          </a:p>
          <a:p>
            <a:pPr marL="628560" lvl="1"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Variáveis criadas em métodos têm escopo local;</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Estruturas condicionais e de repetição não definem um escopo próprio.</a:t>
            </a:r>
          </a:p>
          <a:p>
            <a:pPr marL="628560" lvl="1" indent="-171000" algn="just">
              <a:spcAft>
                <a:spcPts val="600"/>
              </a:spcAft>
              <a:buClr>
                <a:srgbClr val="000000"/>
              </a:buClr>
              <a:buFont typeface="Arial"/>
              <a:buChar char="•"/>
            </a:pPr>
            <a:endParaRPr lang="pt-BR" sz="2200" b="0" strike="noStrike" spc="-1" dirty="0">
              <a:solidFill>
                <a:srgbClr val="000000"/>
              </a:solidFill>
              <a:uFill>
                <a:solidFill>
                  <a:srgbClr val="FFFFFF"/>
                </a:solidFill>
              </a:uFill>
              <a:latin typeface="Arial"/>
            </a:endParaRPr>
          </a:p>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Constantes nomeadas</a:t>
            </a:r>
            <a:r>
              <a:rPr lang="pt-BR" sz="2200" b="0" strike="noStrike" spc="-1" dirty="0">
                <a:solidFill>
                  <a:srgbClr val="000000"/>
                </a:solidFill>
                <a:uFill>
                  <a:solidFill>
                    <a:srgbClr val="FFFFFF"/>
                  </a:solidFill>
                </a:uFill>
                <a:latin typeface="Arial"/>
              </a:rPr>
              <a:t>: criadas com o uso do comando </a:t>
            </a:r>
            <a:r>
              <a:rPr lang="pt-BR" sz="2200" b="0" i="1" strike="noStrike" spc="-1" dirty="0">
                <a:solidFill>
                  <a:srgbClr val="000000"/>
                </a:solidFill>
                <a:uFill>
                  <a:solidFill>
                    <a:srgbClr val="FFFFFF"/>
                  </a:solidFill>
                </a:uFill>
                <a:latin typeface="Arial"/>
              </a:rPr>
              <a:t>final</a:t>
            </a:r>
            <a:r>
              <a:rPr lang="pt-BR" sz="2200" b="0" strike="noStrike" spc="-1" dirty="0">
                <a:solidFill>
                  <a:srgbClr val="000000"/>
                </a:solidFill>
                <a:uFill>
                  <a:solidFill>
                    <a:srgbClr val="FFFFFF"/>
                  </a:solidFill>
                </a:uFill>
                <a:latin typeface="Arial"/>
              </a:rPr>
              <a:t>:</a:t>
            </a:r>
          </a:p>
          <a:p>
            <a:pPr algn="just">
              <a:lnSpc>
                <a:spcPct val="100000"/>
              </a:lnSpc>
              <a:spcAft>
                <a:spcPts val="600"/>
              </a:spcAft>
            </a:pPr>
            <a:r>
              <a:rPr lang="pt-BR" sz="2200" b="0" strike="noStrike" spc="-1" dirty="0">
                <a:solidFill>
                  <a:srgbClr val="000000"/>
                </a:solidFill>
                <a:uFill>
                  <a:solidFill>
                    <a:srgbClr val="FFFFFF"/>
                  </a:solidFill>
                </a:uFill>
                <a:latin typeface="Arial"/>
              </a:rPr>
              <a:t>	</a:t>
            </a:r>
            <a:r>
              <a:rPr lang="pt-BR" sz="2200" b="1" strike="noStrike" spc="-1" dirty="0">
                <a:solidFill>
                  <a:srgbClr val="000000"/>
                </a:solidFill>
                <a:uFill>
                  <a:solidFill>
                    <a:srgbClr val="FFFFFF"/>
                  </a:solidFill>
                </a:uFill>
                <a:latin typeface="Arial"/>
              </a:rPr>
              <a:t>final</a:t>
            </a:r>
            <a:r>
              <a:rPr lang="pt-BR" sz="2200" b="0" strike="noStrike" spc="-1" dirty="0">
                <a:solidFill>
                  <a:srgbClr val="000000"/>
                </a:solidFill>
                <a:uFill>
                  <a:solidFill>
                    <a:srgbClr val="FFFFFF"/>
                  </a:solidFill>
                </a:uFill>
                <a:latin typeface="Arial"/>
              </a:rPr>
              <a:t> </a:t>
            </a:r>
            <a:r>
              <a:rPr lang="pt-BR" sz="2200" b="0" strike="noStrike" spc="-1" dirty="0" err="1">
                <a:solidFill>
                  <a:srgbClr val="000000"/>
                </a:solidFill>
                <a:uFill>
                  <a:solidFill>
                    <a:srgbClr val="FFFFFF"/>
                  </a:solidFill>
                </a:uFill>
                <a:latin typeface="Arial"/>
              </a:rPr>
              <a:t>double</a:t>
            </a:r>
            <a:r>
              <a:rPr lang="pt-BR" sz="2200" b="0" strike="noStrike" spc="-1" dirty="0">
                <a:solidFill>
                  <a:srgbClr val="000000"/>
                </a:solidFill>
                <a:uFill>
                  <a:solidFill>
                    <a:srgbClr val="FFFFFF"/>
                  </a:solidFill>
                </a:uFill>
                <a:latin typeface="Arial"/>
              </a:rPr>
              <a:t> PI = 3.1415;</a:t>
            </a: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052545"/>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Tipos primitivos:</a:t>
            </a:r>
            <a:endParaRPr lang="pt-BR" sz="2200" b="0" strike="noStrike" spc="-1" dirty="0">
              <a:solidFill>
                <a:srgbClr val="000000"/>
              </a:solidFill>
              <a:uFill>
                <a:solidFill>
                  <a:srgbClr val="FFFFFF"/>
                </a:solidFill>
              </a:uFill>
              <a:latin typeface="Arial"/>
            </a:endParaRPr>
          </a:p>
        </p:txBody>
      </p:sp>
      <p:graphicFrame>
        <p:nvGraphicFramePr>
          <p:cNvPr id="4" name="Espaço Reservado para Conteúdo 4"/>
          <p:cNvGraphicFramePr>
            <a:graphicFrameLocks/>
          </p:cNvGraphicFramePr>
          <p:nvPr>
            <p:extLst>
              <p:ext uri="{D42A27DB-BD31-4B8C-83A1-F6EECF244321}">
                <p14:modId xmlns:p14="http://schemas.microsoft.com/office/powerpoint/2010/main" val="3818261421"/>
              </p:ext>
            </p:extLst>
          </p:nvPr>
        </p:nvGraphicFramePr>
        <p:xfrm>
          <a:off x="264399" y="1459961"/>
          <a:ext cx="8568952" cy="5312484"/>
        </p:xfrm>
        <a:graphic>
          <a:graphicData uri="http://schemas.openxmlformats.org/drawingml/2006/table">
            <a:tbl>
              <a:tblPr>
                <a:tableStyleId>{616DA210-FB5B-4158-B5E0-FEB733F419BA}</a:tableStyleId>
              </a:tblPr>
              <a:tblGrid>
                <a:gridCol w="1008112">
                  <a:extLst>
                    <a:ext uri="{9D8B030D-6E8A-4147-A177-3AD203B41FA5}">
                      <a16:colId xmlns:a16="http://schemas.microsoft.com/office/drawing/2014/main" val="20000"/>
                    </a:ext>
                  </a:extLst>
                </a:gridCol>
                <a:gridCol w="7560840">
                  <a:extLst>
                    <a:ext uri="{9D8B030D-6E8A-4147-A177-3AD203B41FA5}">
                      <a16:colId xmlns:a16="http://schemas.microsoft.com/office/drawing/2014/main" val="20001"/>
                    </a:ext>
                  </a:extLst>
                </a:gridCol>
              </a:tblGrid>
              <a:tr h="101811">
                <a:tc>
                  <a:txBody>
                    <a:bodyPr/>
                    <a:lstStyle/>
                    <a:p>
                      <a:r>
                        <a:rPr lang="pt-BR" sz="1800" b="1" dirty="0">
                          <a:latin typeface="+mj-lt"/>
                        </a:rPr>
                        <a:t>Tipo</a:t>
                      </a:r>
                    </a:p>
                  </a:txBody>
                  <a:tcPr marL="41636" marR="41636" marT="20818" marB="20818" anchor="ctr">
                    <a:solidFill>
                      <a:schemeClr val="tx2">
                        <a:lumMod val="60000"/>
                        <a:lumOff val="40000"/>
                      </a:schemeClr>
                    </a:solidFill>
                  </a:tcPr>
                </a:tc>
                <a:tc>
                  <a:txBody>
                    <a:bodyPr/>
                    <a:lstStyle/>
                    <a:p>
                      <a:r>
                        <a:rPr lang="pt-BR" sz="1800" b="1" dirty="0">
                          <a:latin typeface="+mj-lt"/>
                        </a:rPr>
                        <a:t>Descrição</a:t>
                      </a:r>
                    </a:p>
                  </a:txBody>
                  <a:tcPr marL="41636" marR="41636" marT="20818" marB="20818" anchor="ctr">
                    <a:solidFill>
                      <a:schemeClr val="tx2">
                        <a:lumMod val="60000"/>
                        <a:lumOff val="40000"/>
                      </a:schemeClr>
                    </a:solidFill>
                  </a:tcPr>
                </a:tc>
                <a:extLst>
                  <a:ext uri="{0D108BD9-81ED-4DB2-BD59-A6C34878D82A}">
                    <a16:rowId xmlns:a16="http://schemas.microsoft.com/office/drawing/2014/main" val="10000"/>
                  </a:ext>
                </a:extLst>
              </a:tr>
              <a:tr h="291455">
                <a:tc>
                  <a:txBody>
                    <a:bodyPr/>
                    <a:lstStyle/>
                    <a:p>
                      <a:r>
                        <a:rPr lang="pt-BR" sz="1800" dirty="0">
                          <a:latin typeface="+mj-lt"/>
                        </a:rPr>
                        <a:t>boolean</a:t>
                      </a:r>
                    </a:p>
                  </a:txBody>
                  <a:tcPr marL="41636" marR="41636" marT="20818" marB="20818" anchor="ctr">
                    <a:solidFill>
                      <a:schemeClr val="tx2">
                        <a:lumMod val="20000"/>
                        <a:lumOff val="80000"/>
                      </a:schemeClr>
                    </a:solidFill>
                  </a:tcPr>
                </a:tc>
                <a:tc>
                  <a:txBody>
                    <a:bodyPr/>
                    <a:lstStyle/>
                    <a:p>
                      <a:r>
                        <a:rPr lang="pt-BR" sz="1800" dirty="0">
                          <a:latin typeface="+mj-lt"/>
                        </a:rPr>
                        <a:t>Pode assumir o valor true ou o valor false.</a:t>
                      </a:r>
                    </a:p>
                  </a:txBody>
                  <a:tcPr marL="41636" marR="41636" marT="20818" marB="20818" anchor="ctr">
                    <a:solidFill>
                      <a:schemeClr val="tx2">
                        <a:lumMod val="20000"/>
                        <a:lumOff val="80000"/>
                      </a:schemeClr>
                    </a:solidFill>
                  </a:tcPr>
                </a:tc>
                <a:extLst>
                  <a:ext uri="{0D108BD9-81ED-4DB2-BD59-A6C34878D82A}">
                    <a16:rowId xmlns:a16="http://schemas.microsoft.com/office/drawing/2014/main" val="10001"/>
                  </a:ext>
                </a:extLst>
              </a:tr>
              <a:tr h="362688">
                <a:tc>
                  <a:txBody>
                    <a:bodyPr/>
                    <a:lstStyle/>
                    <a:p>
                      <a:r>
                        <a:rPr lang="pt-BR" sz="1800" dirty="0">
                          <a:latin typeface="+mj-lt"/>
                        </a:rPr>
                        <a:t>char</a:t>
                      </a:r>
                    </a:p>
                  </a:txBody>
                  <a:tcPr marL="41636" marR="41636" marT="20818" marB="20818" anchor="ctr">
                    <a:solidFill>
                      <a:schemeClr val="bg1"/>
                    </a:solidFill>
                  </a:tcPr>
                </a:tc>
                <a:tc>
                  <a:txBody>
                    <a:bodyPr/>
                    <a:lstStyle/>
                    <a:p>
                      <a:r>
                        <a:rPr lang="pt-BR" sz="1800" dirty="0">
                          <a:latin typeface="+mj-lt"/>
                        </a:rPr>
                        <a:t>Caractere em notação Unicode de 16 bits. Também pode ser usado como um dado inteiro com valores na faixa entre 0 e 65535.</a:t>
                      </a:r>
                    </a:p>
                  </a:txBody>
                  <a:tcPr marL="41636" marR="41636" marT="20818" marB="20818" anchor="ctr">
                    <a:solidFill>
                      <a:schemeClr val="bg1"/>
                    </a:solidFill>
                  </a:tcPr>
                </a:tc>
                <a:extLst>
                  <a:ext uri="{0D108BD9-81ED-4DB2-BD59-A6C34878D82A}">
                    <a16:rowId xmlns:a16="http://schemas.microsoft.com/office/drawing/2014/main" val="10002"/>
                  </a:ext>
                </a:extLst>
              </a:tr>
              <a:tr h="288032">
                <a:tc>
                  <a:txBody>
                    <a:bodyPr/>
                    <a:lstStyle/>
                    <a:p>
                      <a:r>
                        <a:rPr lang="pt-BR" sz="1800" dirty="0">
                          <a:latin typeface="+mj-lt"/>
                        </a:rPr>
                        <a:t>byte</a:t>
                      </a:r>
                    </a:p>
                  </a:txBody>
                  <a:tcPr marL="41636" marR="41636" marT="20818" marB="20818" anchor="ctr">
                    <a:solidFill>
                      <a:schemeClr val="tx2">
                        <a:lumMod val="20000"/>
                        <a:lumOff val="80000"/>
                      </a:schemeClr>
                    </a:solidFill>
                  </a:tcPr>
                </a:tc>
                <a:tc>
                  <a:txBody>
                    <a:bodyPr/>
                    <a:lstStyle/>
                    <a:p>
                      <a:r>
                        <a:rPr lang="pt-BR" sz="1800" dirty="0">
                          <a:latin typeface="+mj-lt"/>
                        </a:rPr>
                        <a:t>Inteiro de 8 bits em notação de complemento de dois. Pode assumir valores entre -2</a:t>
                      </a:r>
                      <a:r>
                        <a:rPr lang="pt-BR" sz="1800" baseline="30000" dirty="0">
                          <a:latin typeface="+mj-lt"/>
                        </a:rPr>
                        <a:t>7</a:t>
                      </a:r>
                      <a:r>
                        <a:rPr lang="pt-BR" sz="1800" dirty="0">
                          <a:latin typeface="+mj-lt"/>
                        </a:rPr>
                        <a:t>=-128 e 2</a:t>
                      </a:r>
                      <a:r>
                        <a:rPr lang="pt-BR" sz="1800" baseline="30000" dirty="0">
                          <a:latin typeface="+mj-lt"/>
                        </a:rPr>
                        <a:t>7</a:t>
                      </a:r>
                      <a:r>
                        <a:rPr lang="pt-BR" sz="1800" dirty="0">
                          <a:latin typeface="+mj-lt"/>
                        </a:rPr>
                        <a:t>-1=127.</a:t>
                      </a:r>
                    </a:p>
                  </a:txBody>
                  <a:tcPr marL="41636" marR="41636" marT="20818" marB="20818" anchor="ctr">
                    <a:solidFill>
                      <a:schemeClr val="tx2">
                        <a:lumMod val="20000"/>
                        <a:lumOff val="80000"/>
                      </a:schemeClr>
                    </a:solidFill>
                  </a:tcPr>
                </a:tc>
                <a:extLst>
                  <a:ext uri="{0D108BD9-81ED-4DB2-BD59-A6C34878D82A}">
                    <a16:rowId xmlns:a16="http://schemas.microsoft.com/office/drawing/2014/main" val="10003"/>
                  </a:ext>
                </a:extLst>
              </a:tr>
              <a:tr h="288032">
                <a:tc>
                  <a:txBody>
                    <a:bodyPr/>
                    <a:lstStyle/>
                    <a:p>
                      <a:r>
                        <a:rPr lang="pt-BR" sz="1800" dirty="0">
                          <a:latin typeface="+mj-lt"/>
                        </a:rPr>
                        <a:t>short</a:t>
                      </a:r>
                    </a:p>
                  </a:txBody>
                  <a:tcPr marL="41636" marR="41636" marT="20818" marB="20818" anchor="ctr">
                    <a:solidFill>
                      <a:schemeClr val="bg1"/>
                    </a:solidFill>
                  </a:tcPr>
                </a:tc>
                <a:tc>
                  <a:txBody>
                    <a:bodyPr/>
                    <a:lstStyle/>
                    <a:p>
                      <a:r>
                        <a:rPr lang="pt-BR" sz="1800" dirty="0">
                          <a:latin typeface="+mj-lt"/>
                        </a:rPr>
                        <a:t>Inteiro de 16 bits em notação de complemento de dois. Pode assumir valores entre -2</a:t>
                      </a:r>
                      <a:r>
                        <a:rPr lang="pt-BR" sz="1800" baseline="30000" dirty="0">
                          <a:latin typeface="+mj-lt"/>
                        </a:rPr>
                        <a:t>-15</a:t>
                      </a:r>
                      <a:r>
                        <a:rPr lang="pt-BR" sz="1800" dirty="0">
                          <a:latin typeface="+mj-lt"/>
                        </a:rPr>
                        <a:t>=-32.768 a 2</a:t>
                      </a:r>
                      <a:r>
                        <a:rPr lang="pt-BR" sz="1800" baseline="30000" dirty="0">
                          <a:latin typeface="+mj-lt"/>
                        </a:rPr>
                        <a:t>15</a:t>
                      </a:r>
                      <a:r>
                        <a:rPr lang="pt-BR" sz="1800" dirty="0">
                          <a:latin typeface="+mj-lt"/>
                        </a:rPr>
                        <a:t>-1=32.767</a:t>
                      </a:r>
                    </a:p>
                  </a:txBody>
                  <a:tcPr marL="41636" marR="41636" marT="20818" marB="20818" anchor="ctr">
                    <a:solidFill>
                      <a:schemeClr val="bg1"/>
                    </a:solidFill>
                  </a:tcPr>
                </a:tc>
                <a:extLst>
                  <a:ext uri="{0D108BD9-81ED-4DB2-BD59-A6C34878D82A}">
                    <a16:rowId xmlns:a16="http://schemas.microsoft.com/office/drawing/2014/main" val="10004"/>
                  </a:ext>
                </a:extLst>
              </a:tr>
              <a:tr h="288032">
                <a:tc>
                  <a:txBody>
                    <a:bodyPr/>
                    <a:lstStyle/>
                    <a:p>
                      <a:r>
                        <a:rPr lang="pt-BR" sz="1800" dirty="0">
                          <a:latin typeface="+mj-lt"/>
                        </a:rPr>
                        <a:t>int</a:t>
                      </a:r>
                    </a:p>
                  </a:txBody>
                  <a:tcPr marL="41636" marR="41636" marT="20818" marB="20818" anchor="ctr">
                    <a:solidFill>
                      <a:schemeClr val="tx2">
                        <a:lumMod val="20000"/>
                        <a:lumOff val="80000"/>
                      </a:schemeClr>
                    </a:solidFill>
                  </a:tcPr>
                </a:tc>
                <a:tc>
                  <a:txBody>
                    <a:bodyPr/>
                    <a:lstStyle/>
                    <a:p>
                      <a:r>
                        <a:rPr lang="pt-BR" sz="1800" dirty="0">
                          <a:latin typeface="+mj-lt"/>
                        </a:rPr>
                        <a:t>Inteiro de 32 bits em notação de complemento de dois. Pode assumir valores entre -2</a:t>
                      </a:r>
                      <a:r>
                        <a:rPr lang="pt-BR" sz="1800" baseline="30000" dirty="0">
                          <a:latin typeface="+mj-lt"/>
                        </a:rPr>
                        <a:t>31</a:t>
                      </a:r>
                      <a:r>
                        <a:rPr lang="pt-BR" sz="1800" dirty="0">
                          <a:latin typeface="+mj-lt"/>
                        </a:rPr>
                        <a:t>=2.147.483.648 e 2</a:t>
                      </a:r>
                      <a:r>
                        <a:rPr lang="pt-BR" sz="1800" baseline="30000" dirty="0">
                          <a:latin typeface="+mj-lt"/>
                        </a:rPr>
                        <a:t>31</a:t>
                      </a:r>
                      <a:r>
                        <a:rPr lang="pt-BR" sz="1800" dirty="0">
                          <a:latin typeface="+mj-lt"/>
                        </a:rPr>
                        <a:t>-1=2.147.483.647.</a:t>
                      </a:r>
                    </a:p>
                  </a:txBody>
                  <a:tcPr marL="41636" marR="41636" marT="20818" marB="20818" anchor="ctr">
                    <a:solidFill>
                      <a:schemeClr val="tx2">
                        <a:lumMod val="20000"/>
                        <a:lumOff val="80000"/>
                      </a:schemeClr>
                    </a:solidFill>
                  </a:tcPr>
                </a:tc>
                <a:extLst>
                  <a:ext uri="{0D108BD9-81ED-4DB2-BD59-A6C34878D82A}">
                    <a16:rowId xmlns:a16="http://schemas.microsoft.com/office/drawing/2014/main" val="10005"/>
                  </a:ext>
                </a:extLst>
              </a:tr>
              <a:tr h="288032">
                <a:tc>
                  <a:txBody>
                    <a:bodyPr/>
                    <a:lstStyle/>
                    <a:p>
                      <a:r>
                        <a:rPr lang="pt-BR" sz="1800" dirty="0">
                          <a:latin typeface="+mj-lt"/>
                        </a:rPr>
                        <a:t>long</a:t>
                      </a:r>
                    </a:p>
                  </a:txBody>
                  <a:tcPr marL="41636" marR="41636" marT="20818" marB="20818" anchor="ctr">
                    <a:solidFill>
                      <a:schemeClr val="bg1"/>
                    </a:solidFill>
                  </a:tcPr>
                </a:tc>
                <a:tc>
                  <a:txBody>
                    <a:bodyPr/>
                    <a:lstStyle/>
                    <a:p>
                      <a:r>
                        <a:rPr lang="pt-BR" sz="1800" dirty="0">
                          <a:latin typeface="+mj-lt"/>
                        </a:rPr>
                        <a:t>Inteiro de 64 bits em notação de complemento de dois. Pode assumir valores entre -2</a:t>
                      </a:r>
                      <a:r>
                        <a:rPr lang="pt-BR" sz="1800" baseline="30000" dirty="0">
                          <a:latin typeface="+mj-lt"/>
                        </a:rPr>
                        <a:t>63</a:t>
                      </a:r>
                      <a:r>
                        <a:rPr lang="pt-BR" sz="1800" dirty="0">
                          <a:latin typeface="+mj-lt"/>
                        </a:rPr>
                        <a:t> e 2</a:t>
                      </a:r>
                      <a:r>
                        <a:rPr lang="pt-BR" sz="1800" baseline="30000" dirty="0">
                          <a:latin typeface="+mj-lt"/>
                        </a:rPr>
                        <a:t>63</a:t>
                      </a:r>
                      <a:r>
                        <a:rPr lang="pt-BR" sz="1800" dirty="0">
                          <a:latin typeface="+mj-lt"/>
                        </a:rPr>
                        <a:t>-1.</a:t>
                      </a:r>
                    </a:p>
                  </a:txBody>
                  <a:tcPr marL="41636" marR="41636" marT="20818" marB="20818" anchor="ctr">
                    <a:solidFill>
                      <a:schemeClr val="bg1"/>
                    </a:solidFill>
                  </a:tcPr>
                </a:tc>
                <a:extLst>
                  <a:ext uri="{0D108BD9-81ED-4DB2-BD59-A6C34878D82A}">
                    <a16:rowId xmlns:a16="http://schemas.microsoft.com/office/drawing/2014/main" val="10006"/>
                  </a:ext>
                </a:extLst>
              </a:tr>
              <a:tr h="360040">
                <a:tc>
                  <a:txBody>
                    <a:bodyPr/>
                    <a:lstStyle/>
                    <a:p>
                      <a:r>
                        <a:rPr lang="pt-BR" sz="1800" dirty="0">
                          <a:latin typeface="+mj-lt"/>
                        </a:rPr>
                        <a:t>float</a:t>
                      </a:r>
                    </a:p>
                  </a:txBody>
                  <a:tcPr marL="41636" marR="41636" marT="20818" marB="20818" anchor="ctr">
                    <a:solidFill>
                      <a:schemeClr val="tx2">
                        <a:lumMod val="20000"/>
                        <a:lumOff val="80000"/>
                      </a:schemeClr>
                    </a:solidFill>
                  </a:tcPr>
                </a:tc>
                <a:tc>
                  <a:txBody>
                    <a:bodyPr/>
                    <a:lstStyle/>
                    <a:p>
                      <a:r>
                        <a:rPr lang="pt-BR" sz="1800" dirty="0">
                          <a:latin typeface="+mj-lt"/>
                        </a:rPr>
                        <a:t>Números em notação de ponto flutuante normalizada em precisão simples de 32 bits. O menor valor positivo representável por esse tipo é 1.40239846e-46 e o maior é 3.40282347e+38.</a:t>
                      </a:r>
                    </a:p>
                  </a:txBody>
                  <a:tcPr marL="41636" marR="41636" marT="20818" marB="20818" anchor="ctr">
                    <a:solidFill>
                      <a:schemeClr val="tx2">
                        <a:lumMod val="20000"/>
                        <a:lumOff val="80000"/>
                      </a:schemeClr>
                    </a:solidFill>
                  </a:tcPr>
                </a:tc>
                <a:extLst>
                  <a:ext uri="{0D108BD9-81ED-4DB2-BD59-A6C34878D82A}">
                    <a16:rowId xmlns:a16="http://schemas.microsoft.com/office/drawing/2014/main" val="10007"/>
                  </a:ext>
                </a:extLst>
              </a:tr>
              <a:tr h="360040">
                <a:tc>
                  <a:txBody>
                    <a:bodyPr/>
                    <a:lstStyle/>
                    <a:p>
                      <a:r>
                        <a:rPr lang="pt-BR" sz="1800" dirty="0">
                          <a:latin typeface="+mj-lt"/>
                        </a:rPr>
                        <a:t>double</a:t>
                      </a:r>
                    </a:p>
                  </a:txBody>
                  <a:tcPr marL="41636" marR="41636" marT="20818" marB="20818" anchor="ctr">
                    <a:solidFill>
                      <a:schemeClr val="bg1"/>
                    </a:solidFill>
                  </a:tcPr>
                </a:tc>
                <a:tc>
                  <a:txBody>
                    <a:bodyPr/>
                    <a:lstStyle/>
                    <a:p>
                      <a:r>
                        <a:rPr lang="pt-BR" sz="1800" dirty="0">
                          <a:latin typeface="+mj-lt"/>
                        </a:rPr>
                        <a:t>Números em notação de ponto flutuante normalizada em precisão dupla de 64 bits. O menor valor positivo representável é 4.94065645841246544e-324 e o maior é 1.7976931348623157e+308.</a:t>
                      </a:r>
                    </a:p>
                  </a:txBody>
                  <a:tcPr marL="41636" marR="41636" marT="20818" marB="20818" anchor="ctr">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0014274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Tipos primitivos</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Java não é totalmente O.O., pois seus tipos primitivos não são classes.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Mas todos os tipos primitivos possuem classes equivalentes, conhecidas como </a:t>
            </a:r>
            <a:r>
              <a:rPr lang="pt-BR" sz="2200" b="1" spc="-1" dirty="0" err="1">
                <a:solidFill>
                  <a:srgbClr val="000000"/>
                </a:solidFill>
                <a:uFill>
                  <a:solidFill>
                    <a:srgbClr val="FFFFFF"/>
                  </a:solidFill>
                </a:uFill>
                <a:latin typeface="Arial"/>
              </a:rPr>
              <a:t>wrappers</a:t>
            </a:r>
            <a:r>
              <a:rPr lang="pt-BR" sz="2200"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cs typeface="Courier New" panose="02070309020205020404" pitchFamily="49" charset="0"/>
              </a:rPr>
              <a:t>Desde a versão 5.0, o Java realiza a conversão implícita entre os tipos primitivos e as classes equivalentes; </a:t>
            </a:r>
            <a:endParaRPr lang="pt-BR" sz="22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graphicFrame>
        <p:nvGraphicFramePr>
          <p:cNvPr id="2" name="Tabela 1"/>
          <p:cNvGraphicFramePr>
            <a:graphicFrameLocks noGrp="1"/>
          </p:cNvGraphicFramePr>
          <p:nvPr>
            <p:extLst>
              <p:ext uri="{D42A27DB-BD31-4B8C-83A1-F6EECF244321}">
                <p14:modId xmlns:p14="http://schemas.microsoft.com/office/powerpoint/2010/main" val="3576138220"/>
              </p:ext>
            </p:extLst>
          </p:nvPr>
        </p:nvGraphicFramePr>
        <p:xfrm>
          <a:off x="1517520" y="4385875"/>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pt-BR" dirty="0"/>
                        <a:t>Tipo Primitivo</a:t>
                      </a:r>
                    </a:p>
                  </a:txBody>
                  <a:tcPr/>
                </a:tc>
                <a:tc>
                  <a:txBody>
                    <a:bodyPr/>
                    <a:lstStyle/>
                    <a:p>
                      <a:r>
                        <a:rPr lang="pt-BR" dirty="0"/>
                        <a:t>Classe Equivalente</a:t>
                      </a:r>
                    </a:p>
                  </a:txBody>
                  <a:tcPr/>
                </a:tc>
                <a:extLst>
                  <a:ext uri="{0D108BD9-81ED-4DB2-BD59-A6C34878D82A}">
                    <a16:rowId xmlns:a16="http://schemas.microsoft.com/office/drawing/2014/main" val="10000"/>
                  </a:ext>
                </a:extLst>
              </a:tr>
              <a:tr h="370840">
                <a:tc>
                  <a:txBody>
                    <a:bodyPr/>
                    <a:lstStyle/>
                    <a:p>
                      <a:r>
                        <a:rPr lang="pt-BR" dirty="0"/>
                        <a:t>byte, short, </a:t>
                      </a:r>
                      <a:r>
                        <a:rPr lang="pt-BR" dirty="0" err="1"/>
                        <a:t>int</a:t>
                      </a:r>
                      <a:r>
                        <a:rPr lang="pt-BR" dirty="0"/>
                        <a:t>, </a:t>
                      </a:r>
                      <a:r>
                        <a:rPr lang="pt-BR" dirty="0" err="1"/>
                        <a:t>long</a:t>
                      </a:r>
                      <a:endParaRPr lang="pt-BR" dirty="0"/>
                    </a:p>
                  </a:txBody>
                  <a:tcPr/>
                </a:tc>
                <a:tc>
                  <a:txBody>
                    <a:bodyPr/>
                    <a:lstStyle/>
                    <a:p>
                      <a:r>
                        <a:rPr lang="pt-BR" dirty="0"/>
                        <a:t>Byte, Short,</a:t>
                      </a:r>
                      <a:r>
                        <a:rPr lang="pt-BR" baseline="0" dirty="0"/>
                        <a:t> </a:t>
                      </a:r>
                      <a:r>
                        <a:rPr lang="pt-BR" dirty="0" err="1"/>
                        <a:t>Integer</a:t>
                      </a:r>
                      <a:r>
                        <a:rPr lang="pt-BR" dirty="0"/>
                        <a:t>, </a:t>
                      </a:r>
                      <a:r>
                        <a:rPr lang="pt-BR" dirty="0" err="1"/>
                        <a:t>Long</a:t>
                      </a:r>
                      <a:endParaRPr lang="pt-BR" dirty="0"/>
                    </a:p>
                  </a:txBody>
                  <a:tcPr/>
                </a:tc>
                <a:extLst>
                  <a:ext uri="{0D108BD9-81ED-4DB2-BD59-A6C34878D82A}">
                    <a16:rowId xmlns:a16="http://schemas.microsoft.com/office/drawing/2014/main" val="10001"/>
                  </a:ext>
                </a:extLst>
              </a:tr>
              <a:tr h="370840">
                <a:tc>
                  <a:txBody>
                    <a:bodyPr/>
                    <a:lstStyle/>
                    <a:p>
                      <a:r>
                        <a:rPr lang="pt-BR" dirty="0" err="1"/>
                        <a:t>float</a:t>
                      </a:r>
                      <a:endParaRPr lang="pt-BR" dirty="0"/>
                    </a:p>
                  </a:txBody>
                  <a:tcPr/>
                </a:tc>
                <a:tc>
                  <a:txBody>
                    <a:bodyPr/>
                    <a:lstStyle/>
                    <a:p>
                      <a:r>
                        <a:rPr lang="pt-BR" dirty="0" err="1"/>
                        <a:t>Float</a:t>
                      </a:r>
                      <a:endParaRPr lang="pt-BR" dirty="0"/>
                    </a:p>
                  </a:txBody>
                  <a:tcPr/>
                </a:tc>
                <a:extLst>
                  <a:ext uri="{0D108BD9-81ED-4DB2-BD59-A6C34878D82A}">
                    <a16:rowId xmlns:a16="http://schemas.microsoft.com/office/drawing/2014/main" val="10002"/>
                  </a:ext>
                </a:extLst>
              </a:tr>
              <a:tr h="370840">
                <a:tc>
                  <a:txBody>
                    <a:bodyPr/>
                    <a:lstStyle/>
                    <a:p>
                      <a:r>
                        <a:rPr lang="pt-BR" dirty="0" err="1"/>
                        <a:t>double</a:t>
                      </a:r>
                      <a:endParaRPr lang="pt-BR" dirty="0"/>
                    </a:p>
                  </a:txBody>
                  <a:tcPr/>
                </a:tc>
                <a:tc>
                  <a:txBody>
                    <a:bodyPr/>
                    <a:lstStyle/>
                    <a:p>
                      <a:r>
                        <a:rPr lang="pt-BR" dirty="0"/>
                        <a:t>Double</a:t>
                      </a:r>
                    </a:p>
                  </a:txBody>
                  <a:tcPr/>
                </a:tc>
                <a:extLst>
                  <a:ext uri="{0D108BD9-81ED-4DB2-BD59-A6C34878D82A}">
                    <a16:rowId xmlns:a16="http://schemas.microsoft.com/office/drawing/2014/main" val="10003"/>
                  </a:ext>
                </a:extLst>
              </a:tr>
              <a:tr h="370840">
                <a:tc>
                  <a:txBody>
                    <a:bodyPr/>
                    <a:lstStyle/>
                    <a:p>
                      <a:r>
                        <a:rPr lang="pt-BR" dirty="0" err="1"/>
                        <a:t>boolean</a:t>
                      </a:r>
                      <a:endParaRPr lang="pt-BR" dirty="0"/>
                    </a:p>
                  </a:txBody>
                  <a:tcPr/>
                </a:tc>
                <a:tc>
                  <a:txBody>
                    <a:bodyPr/>
                    <a:lstStyle/>
                    <a:p>
                      <a:r>
                        <a:rPr lang="pt-BR" dirty="0" err="1"/>
                        <a:t>Boolean</a:t>
                      </a:r>
                      <a:endParaRPr lang="pt-BR" dirty="0"/>
                    </a:p>
                  </a:txBody>
                  <a:tcPr/>
                </a:tc>
                <a:extLst>
                  <a:ext uri="{0D108BD9-81ED-4DB2-BD59-A6C34878D82A}">
                    <a16:rowId xmlns:a16="http://schemas.microsoft.com/office/drawing/2014/main" val="10004"/>
                  </a:ext>
                </a:extLst>
              </a:tr>
              <a:tr h="370840">
                <a:tc>
                  <a:txBody>
                    <a:bodyPr/>
                    <a:lstStyle/>
                    <a:p>
                      <a:r>
                        <a:rPr lang="pt-BR" dirty="0"/>
                        <a:t>char</a:t>
                      </a:r>
                    </a:p>
                  </a:txBody>
                  <a:tcPr/>
                </a:tc>
                <a:tc>
                  <a:txBody>
                    <a:bodyPr/>
                    <a:lstStyle/>
                    <a:p>
                      <a:r>
                        <a:rPr lang="pt-BR" dirty="0" err="1"/>
                        <a:t>Character</a:t>
                      </a:r>
                      <a:endParaRPr lang="pt-BR"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6444795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Cadeia de Caracteres</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Definida pelas classes </a:t>
            </a:r>
            <a:r>
              <a:rPr lang="pt-BR" sz="2200" spc="-1" dirty="0" err="1">
                <a:solidFill>
                  <a:srgbClr val="000000"/>
                </a:solidFill>
                <a:uFill>
                  <a:solidFill>
                    <a:srgbClr val="FFFFFF"/>
                  </a:solidFill>
                </a:uFill>
                <a:latin typeface="Arial"/>
              </a:rPr>
              <a:t>String</a:t>
            </a:r>
            <a:r>
              <a:rPr lang="pt-BR" sz="2200" spc="-1" dirty="0">
                <a:solidFill>
                  <a:srgbClr val="000000"/>
                </a:solidFill>
                <a:uFill>
                  <a:solidFill>
                    <a:srgbClr val="FFFFFF"/>
                  </a:solidFill>
                </a:uFill>
                <a:latin typeface="Arial"/>
              </a:rPr>
              <a:t>  (cadeias estáticas), </a:t>
            </a:r>
            <a:r>
              <a:rPr lang="pt-BR" sz="2200" spc="-1" dirty="0" err="1">
                <a:solidFill>
                  <a:srgbClr val="000000"/>
                </a:solidFill>
                <a:uFill>
                  <a:solidFill>
                    <a:srgbClr val="FFFFFF"/>
                  </a:solidFill>
                </a:uFill>
                <a:latin typeface="Arial"/>
              </a:rPr>
              <a:t>StringBuilder</a:t>
            </a:r>
            <a:r>
              <a:rPr lang="pt-BR" sz="2200" spc="-1" dirty="0">
                <a:solidFill>
                  <a:srgbClr val="000000"/>
                </a:solidFill>
                <a:uFill>
                  <a:solidFill>
                    <a:srgbClr val="FFFFFF"/>
                  </a:solidFill>
                </a:uFill>
                <a:latin typeface="Arial"/>
              </a:rPr>
              <a:t> (cadeias dinâmicas) e </a:t>
            </a:r>
            <a:r>
              <a:rPr lang="pt-BR" sz="2200" spc="-1" dirty="0" err="1">
                <a:solidFill>
                  <a:srgbClr val="000000"/>
                </a:solidFill>
                <a:uFill>
                  <a:solidFill>
                    <a:srgbClr val="FFFFFF"/>
                  </a:solidFill>
                </a:uFill>
                <a:latin typeface="Arial"/>
              </a:rPr>
              <a:t>StringBuffer</a:t>
            </a:r>
            <a:r>
              <a:rPr lang="pt-BR" sz="2200" spc="-1" dirty="0">
                <a:solidFill>
                  <a:srgbClr val="000000"/>
                </a:solidFill>
                <a:uFill>
                  <a:solidFill>
                    <a:srgbClr val="FFFFFF"/>
                  </a:solidFill>
                </a:uFill>
                <a:latin typeface="Arial"/>
              </a:rPr>
              <a:t> (cadeias dinâmicas sincronizadas);</a:t>
            </a:r>
          </a:p>
          <a:p>
            <a:pPr marL="628560" lvl="1"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Cadeias estáticas (</a:t>
            </a:r>
            <a:r>
              <a:rPr lang="pt-BR" sz="2200" b="0" strike="noStrike" spc="-1" dirty="0" err="1">
                <a:solidFill>
                  <a:srgbClr val="000000"/>
                </a:solidFill>
                <a:uFill>
                  <a:solidFill>
                    <a:srgbClr val="FFFFFF"/>
                  </a:solidFill>
                </a:uFill>
                <a:latin typeface="Arial"/>
              </a:rPr>
              <a:t>String</a:t>
            </a:r>
            <a:r>
              <a:rPr lang="pt-BR" sz="2200" b="0" strike="noStrike" spc="-1" dirty="0">
                <a:solidFill>
                  <a:srgbClr val="000000"/>
                </a:solidFill>
                <a:uFill>
                  <a:solidFill>
                    <a:srgbClr val="FFFFFF"/>
                  </a:solidFill>
                </a:uFill>
                <a:latin typeface="Arial"/>
              </a:rPr>
              <a:t>) iguais compartilham o mesmo espaço na memória.</a:t>
            </a:r>
          </a:p>
          <a:p>
            <a:pPr marL="457560" lvl="1" algn="just">
              <a:spcAft>
                <a:spcPts val="600"/>
              </a:spcAft>
              <a:buClr>
                <a:srgbClr val="000000"/>
              </a:buClr>
            </a:pPr>
            <a:endPar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pt-BR" sz="2200" b="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22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str1 = "ABC"; //ou new </a:t>
            </a:r>
            <a:r>
              <a:rPr lang="pt-BR" sz="2200" b="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22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("ABC");</a:t>
            </a:r>
          </a:p>
          <a:p>
            <a:pPr marL="457560" lvl="1" algn="just">
              <a:spcAft>
                <a:spcPts val="600"/>
              </a:spcAft>
              <a:buClr>
                <a:srgbClr val="000000"/>
              </a:buClr>
            </a:pP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str2 = "ABC";</a:t>
            </a:r>
          </a:p>
          <a:p>
            <a:pPr marL="457560" lvl="1" algn="just">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str1 += "D"; //é criado um novo objeto "ABCD"</a:t>
            </a:r>
            <a:endParaRPr lang="pt-BR" sz="22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StringBuffer</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str</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 new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StringBuffer</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457560" lvl="1" algn="just">
              <a:spcAft>
                <a:spcPts val="600"/>
              </a:spcAft>
              <a:buClr>
                <a:srgbClr val="000000"/>
              </a:buClr>
            </a:pP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str.append</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"ABC" );</a:t>
            </a:r>
            <a:endParaRPr lang="pt-BR" sz="22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9699935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Tipos ordinais definidos pelo usuário</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b="0" strike="noStrike" spc="-1" dirty="0">
                <a:solidFill>
                  <a:srgbClr val="000000"/>
                </a:solidFill>
                <a:uFill>
                  <a:solidFill>
                    <a:srgbClr val="FFFFFF"/>
                  </a:solidFill>
                </a:uFill>
                <a:latin typeface="Arial"/>
              </a:rPr>
              <a:t>Possui apenas tipos enumerados como tipos ordinais definidos pelo usuários, criados a partir da palavra chave </a:t>
            </a:r>
            <a:r>
              <a:rPr lang="pt-BR" sz="2200" b="1" strike="noStrike" spc="-1" dirty="0" err="1">
                <a:solidFill>
                  <a:srgbClr val="000000"/>
                </a:solidFill>
                <a:uFill>
                  <a:solidFill>
                    <a:srgbClr val="FFFFFF"/>
                  </a:solidFill>
                </a:uFill>
                <a:latin typeface="Arial"/>
              </a:rPr>
              <a:t>enum</a:t>
            </a:r>
            <a:r>
              <a:rPr lang="pt-BR" sz="220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Um enumerado é, na verdade, uma subclasse de </a:t>
            </a:r>
            <a:r>
              <a:rPr lang="pt-BR" sz="2200" b="1" strike="noStrike" spc="-1" dirty="0" err="1">
                <a:solidFill>
                  <a:srgbClr val="000000"/>
                </a:solidFill>
                <a:uFill>
                  <a:solidFill>
                    <a:srgbClr val="FFFFFF"/>
                  </a:solidFill>
                </a:uFill>
                <a:latin typeface="Arial"/>
              </a:rPr>
              <a:t>Enum</a:t>
            </a:r>
            <a:r>
              <a:rPr lang="pt-BR" sz="2200" b="0" strike="noStrike" spc="-1" dirty="0">
                <a:solidFill>
                  <a:srgbClr val="000000"/>
                </a:solidFill>
                <a:uFill>
                  <a:solidFill>
                    <a:srgbClr val="FFFFFF"/>
                  </a:solidFill>
                </a:uFill>
                <a:latin typeface="Arial"/>
              </a:rPr>
              <a:t> e pode ter atributos e métodos;</a:t>
            </a:r>
          </a:p>
          <a:p>
            <a:pPr marL="628560" lvl="1" indent="-171000" algn="just">
              <a:spcAft>
                <a:spcPts val="600"/>
              </a:spcAft>
              <a:buClr>
                <a:srgbClr val="000000"/>
              </a:buClr>
              <a:buFont typeface="Arial"/>
              <a:buChar char="•"/>
            </a:pPr>
            <a:endParaRPr lang="pt-BR" sz="1100" dirty="0">
              <a:latin typeface="Courier New" panose="02070309020205020404" pitchFamily="49" charset="0"/>
              <a:cs typeface="Courier New" panose="02070309020205020404" pitchFamily="49" charset="0"/>
            </a:endParaRPr>
          </a:p>
          <a:p>
            <a:pPr marL="457560" lvl="1" algn="just">
              <a:buClr>
                <a:srgbClr val="000000"/>
              </a:buClr>
            </a:pPr>
            <a:r>
              <a:rPr lang="pt-BR" dirty="0" err="1">
                <a:latin typeface="Courier New" panose="02070309020205020404" pitchFamily="49" charset="0"/>
                <a:cs typeface="Courier New" panose="02070309020205020404" pitchFamily="49" charset="0"/>
              </a:rPr>
              <a:t>public</a:t>
            </a:r>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enum</a:t>
            </a:r>
            <a:r>
              <a:rPr lang="pt-BR" dirty="0">
                <a:latin typeface="Courier New" panose="02070309020205020404" pitchFamily="49" charset="0"/>
                <a:cs typeface="Courier New" panose="02070309020205020404" pitchFamily="49" charset="0"/>
              </a:rPr>
              <a:t> Carta {</a:t>
            </a:r>
          </a:p>
          <a:p>
            <a:pPr marL="457560" lvl="1" algn="just">
              <a:buClr>
                <a:srgbClr val="000000"/>
              </a:buClr>
            </a:pPr>
            <a:endParaRPr lang="pt-BR" dirty="0">
              <a:latin typeface="Courier New" panose="02070309020205020404" pitchFamily="49" charset="0"/>
              <a:cs typeface="Courier New" panose="02070309020205020404" pitchFamily="49" charset="0"/>
            </a:endParaRPr>
          </a:p>
          <a:p>
            <a:pPr marL="457560" lvl="1" algn="just">
              <a:buClr>
                <a:srgbClr val="000000"/>
              </a:buClr>
            </a:pPr>
            <a:r>
              <a:rPr lang="pt-BR" dirty="0">
                <a:latin typeface="Courier New" panose="02070309020205020404" pitchFamily="49" charset="0"/>
                <a:cs typeface="Courier New" panose="02070309020205020404" pitchFamily="49" charset="0"/>
              </a:rPr>
              <a:t>	J(11),Q(12),K(13),A(14);</a:t>
            </a:r>
          </a:p>
          <a:p>
            <a:pPr marL="457560" lvl="1" algn="just">
              <a:buClr>
                <a:srgbClr val="000000"/>
              </a:buClr>
            </a:pPr>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public</a:t>
            </a:r>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int</a:t>
            </a:r>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valorCarta</a:t>
            </a:r>
            <a:r>
              <a:rPr lang="pt-BR" dirty="0">
                <a:latin typeface="Courier New" panose="02070309020205020404" pitchFamily="49" charset="0"/>
                <a:cs typeface="Courier New" panose="02070309020205020404" pitchFamily="49" charset="0"/>
              </a:rPr>
              <a:t>;</a:t>
            </a:r>
          </a:p>
          <a:p>
            <a:pPr marL="457560" lvl="1" algn="just">
              <a:buClr>
                <a:srgbClr val="000000"/>
              </a:buClr>
            </a:pPr>
            <a:endParaRPr lang="pt-BR" dirty="0">
              <a:latin typeface="Courier New" panose="02070309020205020404" pitchFamily="49" charset="0"/>
              <a:cs typeface="Courier New" panose="02070309020205020404" pitchFamily="49" charset="0"/>
            </a:endParaRPr>
          </a:p>
          <a:p>
            <a:pPr marL="457560" lvl="1" algn="just">
              <a:buClr>
                <a:srgbClr val="000000"/>
              </a:buClr>
            </a:pPr>
            <a:r>
              <a:rPr lang="pt-BR" dirty="0">
                <a:latin typeface="Courier New" panose="02070309020205020404" pitchFamily="49" charset="0"/>
                <a:cs typeface="Courier New" panose="02070309020205020404" pitchFamily="49" charset="0"/>
              </a:rPr>
              <a:t>	Carta(</a:t>
            </a:r>
            <a:r>
              <a:rPr lang="pt-BR" dirty="0" err="1">
                <a:latin typeface="Courier New" panose="02070309020205020404" pitchFamily="49" charset="0"/>
                <a:cs typeface="Courier New" panose="02070309020205020404" pitchFamily="49" charset="0"/>
              </a:rPr>
              <a:t>int</a:t>
            </a:r>
            <a:r>
              <a:rPr lang="pt-BR" dirty="0">
                <a:latin typeface="Courier New" panose="02070309020205020404" pitchFamily="49" charset="0"/>
                <a:cs typeface="Courier New" panose="02070309020205020404" pitchFamily="49" charset="0"/>
              </a:rPr>
              <a:t> valor) {</a:t>
            </a:r>
          </a:p>
          <a:p>
            <a:pPr marL="457560" lvl="1" algn="just">
              <a:buClr>
                <a:srgbClr val="000000"/>
              </a:buClr>
            </a:pPr>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valorCarta</a:t>
            </a:r>
            <a:r>
              <a:rPr lang="pt-BR" dirty="0">
                <a:latin typeface="Courier New" panose="02070309020205020404" pitchFamily="49" charset="0"/>
                <a:cs typeface="Courier New" panose="02070309020205020404" pitchFamily="49" charset="0"/>
              </a:rPr>
              <a:t> = valor;</a:t>
            </a:r>
          </a:p>
          <a:p>
            <a:pPr marL="457560" lvl="1" algn="just">
              <a:buClr>
                <a:srgbClr val="000000"/>
              </a:buClr>
            </a:pPr>
            <a:r>
              <a:rPr lang="pt-BR" dirty="0">
                <a:latin typeface="Courier New" panose="02070309020205020404" pitchFamily="49" charset="0"/>
                <a:cs typeface="Courier New" panose="02070309020205020404" pitchFamily="49" charset="0"/>
              </a:rPr>
              <a:t>	}</a:t>
            </a:r>
          </a:p>
          <a:p>
            <a:pPr marL="457560" lvl="1" algn="just">
              <a:buClr>
                <a:srgbClr val="000000"/>
              </a:buClr>
            </a:pPr>
            <a:r>
              <a:rPr lang="pt-BR"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1657680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Vetores/Matrizes</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São objetos da classe </a:t>
            </a:r>
            <a:r>
              <a:rPr lang="pt-BR" sz="2200" spc="-1" dirty="0" err="1">
                <a:solidFill>
                  <a:srgbClr val="000000"/>
                </a:solidFill>
                <a:uFill>
                  <a:solidFill>
                    <a:srgbClr val="FFFFFF"/>
                  </a:solidFill>
                </a:uFill>
                <a:latin typeface="Arial"/>
              </a:rPr>
              <a:t>Array</a:t>
            </a:r>
            <a:r>
              <a:rPr lang="pt-BR" sz="2200"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São dinâmicas do monte fixa;</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Listas verdadeiramente dinâmicas são implementadas por subclasses da interface </a:t>
            </a:r>
            <a:r>
              <a:rPr lang="pt-BR" sz="2200" spc="-1" dirty="0" err="1">
                <a:solidFill>
                  <a:srgbClr val="000000"/>
                </a:solidFill>
                <a:uFill>
                  <a:solidFill>
                    <a:srgbClr val="FFFFFF"/>
                  </a:solidFill>
                </a:uFill>
                <a:latin typeface="Arial"/>
              </a:rPr>
              <a:t>List</a:t>
            </a:r>
            <a:r>
              <a:rPr lang="pt-BR" sz="2200"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Matrizes seguem uma ordem principal de linha;</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Não possui suporte para matrizes associativas, porém elas são simuladas por subclasses da interface </a:t>
            </a:r>
            <a:r>
              <a:rPr lang="pt-BR" sz="2200" spc="-1" dirty="0" err="1">
                <a:solidFill>
                  <a:srgbClr val="000000"/>
                </a:solidFill>
                <a:uFill>
                  <a:solidFill>
                    <a:srgbClr val="FFFFFF"/>
                  </a:solidFill>
                </a:uFill>
                <a:latin typeface="Arial"/>
              </a:rPr>
              <a:t>Map</a:t>
            </a:r>
            <a:r>
              <a:rPr lang="pt-BR" sz="2200"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Não possui suporte para fatias, mas a classe </a:t>
            </a:r>
            <a:r>
              <a:rPr lang="pt-BR" sz="2200" spc="-1" dirty="0" err="1">
                <a:solidFill>
                  <a:srgbClr val="000000"/>
                </a:solidFill>
                <a:uFill>
                  <a:solidFill>
                    <a:srgbClr val="FFFFFF"/>
                  </a:solidFill>
                </a:uFill>
                <a:latin typeface="Arial"/>
              </a:rPr>
              <a:t>Array</a:t>
            </a:r>
            <a:r>
              <a:rPr lang="pt-BR" sz="2200" spc="-1" dirty="0">
                <a:solidFill>
                  <a:srgbClr val="000000"/>
                </a:solidFill>
                <a:uFill>
                  <a:solidFill>
                    <a:srgbClr val="FFFFFF"/>
                  </a:solidFill>
                </a:uFill>
                <a:latin typeface="Arial"/>
              </a:rPr>
              <a:t> contém diversos métodos para manipulação dos vetores/matrizes;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Não possui suporte a compreensão de listas.</a:t>
            </a:r>
          </a:p>
          <a:p>
            <a:pPr marL="457560" lvl="1" algn="just">
              <a:spcAft>
                <a:spcPts val="600"/>
              </a:spcAft>
              <a:buClr>
                <a:srgbClr val="000000"/>
              </a:buClr>
            </a:pPr>
            <a:endParaRPr lang="pt-BR" sz="2200" b="0" strike="noStrike" spc="-1" dirty="0">
              <a:solidFill>
                <a:srgbClr val="000000"/>
              </a:solidFill>
              <a:uFill>
                <a:solidFill>
                  <a:srgbClr val="FFFFFF"/>
                </a:solidFill>
              </a:uFill>
              <a:latin typeface="Arial"/>
            </a:endParaRPr>
          </a:p>
          <a:p>
            <a:pPr marL="457560" lvl="1" algn="ctr">
              <a:spcAft>
                <a:spcPts val="600"/>
              </a:spcAft>
              <a:buClr>
                <a:srgbClr val="000000"/>
              </a:buClr>
            </a:pP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vetor[] = new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[10];</a:t>
            </a:r>
            <a:endParaRPr lang="pt-BR" sz="22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042454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Vetores/Matrizes</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Matrizes são irregulares, sendo possível criar matrizes com quantidade de colunas diferentes para cada linha.</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O tamanho de cada linha pode ser acessado pelo atributo </a:t>
            </a:r>
            <a:r>
              <a:rPr lang="pt-BR" sz="2200" spc="-1" dirty="0" err="1">
                <a:solidFill>
                  <a:srgbClr val="000000"/>
                </a:solidFill>
                <a:uFill>
                  <a:solidFill>
                    <a:srgbClr val="FFFFFF"/>
                  </a:solidFill>
                </a:uFill>
                <a:latin typeface="Arial"/>
              </a:rPr>
              <a:t>length</a:t>
            </a:r>
            <a:r>
              <a:rPr lang="pt-BR" sz="2200"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endParaRPr lang="pt-BR" sz="2200" b="0" strike="noStrike" spc="-1" dirty="0">
              <a:solidFill>
                <a:srgbClr val="000000"/>
              </a:solidFill>
              <a:uFill>
                <a:solidFill>
                  <a:srgbClr val="FFFFFF"/>
                </a:solidFill>
              </a:uFill>
              <a:latin typeface="Arial"/>
            </a:endParaRPr>
          </a:p>
          <a:p>
            <a:pPr marL="457560" lvl="1" algn="just">
              <a:spcAft>
                <a:spcPts val="600"/>
              </a:spcAft>
              <a:buClr>
                <a:srgbClr val="000000"/>
              </a:buClr>
            </a:pP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 ][ ] </a:t>
            </a: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matriz</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 = new </a:t>
            </a: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[3][];</a:t>
            </a:r>
          </a:p>
          <a:p>
            <a:pPr marL="457560" lvl="1" algn="just">
              <a:spcAft>
                <a:spcPts val="600"/>
              </a:spcAft>
              <a:buClr>
                <a:srgbClr val="000000"/>
              </a:buClr>
            </a:pP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matriz</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[0] = new </a:t>
            </a: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[2];</a:t>
            </a:r>
          </a:p>
          <a:p>
            <a:pPr marL="457560" lvl="1" algn="just">
              <a:spcAft>
                <a:spcPts val="600"/>
              </a:spcAft>
              <a:buClr>
                <a:srgbClr val="000000"/>
              </a:buClr>
            </a:pP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matriz</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[1] = new </a:t>
            </a: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[4];</a:t>
            </a:r>
          </a:p>
          <a:p>
            <a:pPr marL="457560" lvl="1" algn="just">
              <a:spcAft>
                <a:spcPts val="600"/>
              </a:spcAft>
              <a:buClr>
                <a:srgbClr val="000000"/>
              </a:buClr>
            </a:pP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matriz</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[2] = new </a:t>
            </a: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[3];</a:t>
            </a:r>
          </a:p>
          <a:p>
            <a:pPr marL="457560" lvl="1" algn="just">
              <a:spcAft>
                <a:spcPts val="600"/>
              </a:spcAft>
              <a:buClr>
                <a:srgbClr val="000000"/>
              </a:buClr>
            </a:pPr>
            <a:endParaRPr lang="en-US"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 tam_linha_2 = </a:t>
            </a:r>
            <a:r>
              <a:rPr lang="en-US" sz="2000" spc="-1" dirty="0" err="1">
                <a:solidFill>
                  <a:srgbClr val="000000"/>
                </a:solidFill>
                <a:uFill>
                  <a:solidFill>
                    <a:srgbClr val="FFFFFF"/>
                  </a:solidFill>
                </a:uFill>
                <a:latin typeface="Courier New" panose="02070309020205020404" pitchFamily="49" charset="0"/>
                <a:cs typeface="Courier New" panose="02070309020205020404" pitchFamily="49" charset="0"/>
              </a:rPr>
              <a:t>matriz</a:t>
            </a:r>
            <a:r>
              <a:rPr lang="en-US" sz="2000" spc="-1" dirty="0">
                <a:solidFill>
                  <a:srgbClr val="000000"/>
                </a:solidFill>
                <a:uFill>
                  <a:solidFill>
                    <a:srgbClr val="FFFFFF"/>
                  </a:solidFill>
                </a:uFill>
                <a:latin typeface="Courier New" panose="02070309020205020404" pitchFamily="49" charset="0"/>
                <a:cs typeface="Courier New" panose="02070309020205020404" pitchFamily="49" charset="0"/>
              </a:rPr>
              <a:t>[2].length; // = 3</a:t>
            </a: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4318191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Registros e uniões</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Não possui suporte a registros nem a uniões, por considerá-los redundantes com o conceito de classe.</a:t>
            </a: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3073417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576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Ponteiros e referências</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Não possui ponteiros, por considerá-los pouco confiáveis;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Todo objeto de classe é acessado por meio de uma referência;</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Coletor de lixo apaga automaticamente objetos que não possuem uma referência apontando para eles;</a:t>
            </a:r>
          </a:p>
          <a:p>
            <a:pPr marL="457560" lvl="1" algn="just">
              <a:spcAft>
                <a:spcPts val="600"/>
              </a:spcAft>
              <a:buClr>
                <a:srgbClr val="000000"/>
              </a:buClr>
            </a:pPr>
            <a:endParaRPr lang="pt-BR" sz="2200" spc="-1" dirty="0">
              <a:solidFill>
                <a:srgbClr val="000000"/>
              </a:solidFill>
              <a:uFill>
                <a:solidFill>
                  <a:srgbClr val="FFFFFF"/>
                </a:solidFill>
              </a:uFill>
              <a:latin typeface="Arial"/>
            </a:endParaRPr>
          </a:p>
          <a:p>
            <a:pPr marL="360" algn="ctr">
              <a:spcAft>
                <a:spcPts val="600"/>
              </a:spcAft>
              <a:buClr>
                <a:srgbClr val="000000"/>
              </a:buClr>
            </a:pPr>
            <a:endParaRPr lang="pt-BR" sz="2200" spc="-1" dirty="0">
              <a:solidFill>
                <a:srgbClr val="000000"/>
              </a:solidFill>
              <a:uFill>
                <a:solidFill>
                  <a:srgbClr val="FFFFFF"/>
                </a:solidFill>
              </a:uFill>
              <a:latin typeface="Arial"/>
            </a:endParaRPr>
          </a:p>
          <a:p>
            <a:pPr marL="360" algn="ctr">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Pessoa  p  = new Pessoa(); </a:t>
            </a:r>
          </a:p>
          <a:p>
            <a:pPr marL="628560" lvl="1" indent="-171000" algn="just">
              <a:spcAft>
                <a:spcPts val="600"/>
              </a:spcAft>
              <a:buClr>
                <a:srgbClr val="000000"/>
              </a:buClr>
              <a:buFont typeface="Arial"/>
              <a:buChar char="•"/>
            </a:pP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
        <p:nvSpPr>
          <p:cNvPr id="2" name="CaixaDeTexto 1"/>
          <p:cNvSpPr txBox="1"/>
          <p:nvPr/>
        </p:nvSpPr>
        <p:spPr>
          <a:xfrm>
            <a:off x="1856095" y="5554640"/>
            <a:ext cx="1300356" cy="369332"/>
          </a:xfrm>
          <a:prstGeom prst="rect">
            <a:avLst/>
          </a:prstGeom>
          <a:noFill/>
        </p:spPr>
        <p:txBody>
          <a:bodyPr wrap="none" rtlCol="0">
            <a:spAutoFit/>
          </a:bodyPr>
          <a:lstStyle/>
          <a:p>
            <a:r>
              <a:rPr lang="pt-BR" dirty="0"/>
              <a:t>Referência</a:t>
            </a:r>
          </a:p>
        </p:txBody>
      </p:sp>
      <p:cxnSp>
        <p:nvCxnSpPr>
          <p:cNvPr id="4" name="Conector de seta reta 3"/>
          <p:cNvCxnSpPr>
            <a:stCxn id="2" idx="0"/>
            <a:endCxn id="5" idx="3"/>
          </p:cNvCxnSpPr>
          <p:nvPr/>
        </p:nvCxnSpPr>
        <p:spPr>
          <a:xfrm flipV="1">
            <a:off x="2506273" y="4801864"/>
            <a:ext cx="1162348" cy="75277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5" name="Elipse 4"/>
          <p:cNvSpPr/>
          <p:nvPr/>
        </p:nvSpPr>
        <p:spPr>
          <a:xfrm>
            <a:off x="3616656" y="4474970"/>
            <a:ext cx="354842" cy="38298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pt-BR"/>
          </a:p>
        </p:txBody>
      </p:sp>
      <p:sp>
        <p:nvSpPr>
          <p:cNvPr id="10" name="CaixaDeTexto 9"/>
          <p:cNvSpPr txBox="1"/>
          <p:nvPr/>
        </p:nvSpPr>
        <p:spPr>
          <a:xfrm>
            <a:off x="6007004" y="5486402"/>
            <a:ext cx="864339" cy="369332"/>
          </a:xfrm>
          <a:prstGeom prst="rect">
            <a:avLst/>
          </a:prstGeom>
          <a:noFill/>
        </p:spPr>
        <p:txBody>
          <a:bodyPr wrap="none" rtlCol="0">
            <a:spAutoFit/>
          </a:bodyPr>
          <a:lstStyle/>
          <a:p>
            <a:r>
              <a:rPr lang="pt-BR" dirty="0"/>
              <a:t>Objeto</a:t>
            </a:r>
          </a:p>
        </p:txBody>
      </p:sp>
      <p:cxnSp>
        <p:nvCxnSpPr>
          <p:cNvPr id="11" name="Conector de seta reta 10"/>
          <p:cNvCxnSpPr>
            <a:stCxn id="10" idx="0"/>
            <a:endCxn id="12" idx="4"/>
          </p:cNvCxnSpPr>
          <p:nvPr/>
        </p:nvCxnSpPr>
        <p:spPr>
          <a:xfrm flipH="1" flipV="1">
            <a:off x="5876509" y="4926840"/>
            <a:ext cx="562665" cy="5595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Elipse 11"/>
          <p:cNvSpPr/>
          <p:nvPr/>
        </p:nvSpPr>
        <p:spPr>
          <a:xfrm>
            <a:off x="5188442" y="4377939"/>
            <a:ext cx="1376133" cy="548901"/>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pt-BR"/>
          </a:p>
        </p:txBody>
      </p:sp>
    </p:spTree>
    <p:extLst>
      <p:ext uri="{BB962C8B-B14F-4D97-AF65-F5344CB8AC3E}">
        <p14:creationId xmlns:p14="http://schemas.microsoft.com/office/powerpoint/2010/main" val="36553009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Sistema de Tipos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Verificação</a:t>
            </a:r>
            <a:r>
              <a:rPr lang="pt-BR" sz="2200" b="0" strike="noStrike" spc="-1" dirty="0">
                <a:solidFill>
                  <a:srgbClr val="000000"/>
                </a:solidFill>
                <a:uFill>
                  <a:solidFill>
                    <a:srgbClr val="FFFFFF"/>
                  </a:solidFill>
                </a:uFill>
                <a:latin typeface="Arial"/>
              </a:rPr>
              <a:t>: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É considerada </a:t>
            </a:r>
            <a:r>
              <a:rPr lang="pt-BR" sz="2200" b="1" spc="-1" dirty="0">
                <a:solidFill>
                  <a:srgbClr val="000000"/>
                </a:solidFill>
                <a:uFill>
                  <a:solidFill>
                    <a:srgbClr val="FFFFFF"/>
                  </a:solidFill>
                </a:uFill>
                <a:latin typeface="Arial"/>
              </a:rPr>
              <a:t>fortemente </a:t>
            </a:r>
            <a:r>
              <a:rPr lang="pt-BR" sz="2200" b="1" spc="-1" dirty="0" err="1">
                <a:solidFill>
                  <a:srgbClr val="000000"/>
                </a:solidFill>
                <a:uFill>
                  <a:solidFill>
                    <a:srgbClr val="FFFFFF"/>
                  </a:solidFill>
                </a:uFill>
                <a:latin typeface="Arial"/>
              </a:rPr>
              <a:t>tipada</a:t>
            </a:r>
            <a:r>
              <a:rPr lang="pt-BR" sz="2200" spc="-1" dirty="0">
                <a:solidFill>
                  <a:srgbClr val="000000"/>
                </a:solidFill>
                <a:uFill>
                  <a:solidFill>
                    <a:srgbClr val="FFFFFF"/>
                  </a:solidFill>
                </a:uFill>
                <a:latin typeface="Arial"/>
              </a:rPr>
              <a:t>:</a:t>
            </a:r>
          </a:p>
          <a:p>
            <a:pPr marL="1085760" lvl="2" indent="-171000" algn="just">
              <a:spcAft>
                <a:spcPts val="600"/>
              </a:spcAft>
              <a:buClr>
                <a:srgbClr val="000000"/>
              </a:buClr>
              <a:buFont typeface="Arial"/>
              <a:buChar char="•"/>
            </a:pPr>
            <a:r>
              <a:rPr lang="pt-BR" sz="2000" dirty="0"/>
              <a:t>Erros de tipos são sempre detectados, seja em tempo de compilação ou de execução;</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A conversão implícita de tipo (coerção) é feita apenas para os casos de alargamento.</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A conversão explícita de tipo (</a:t>
            </a:r>
            <a:r>
              <a:rPr lang="pt-BR" sz="2000" spc="-1" dirty="0" err="1">
                <a:solidFill>
                  <a:srgbClr val="000000"/>
                </a:solidFill>
                <a:uFill>
                  <a:solidFill>
                    <a:srgbClr val="FFFFFF"/>
                  </a:solidFill>
                </a:uFill>
              </a:rPr>
              <a:t>cast</a:t>
            </a:r>
            <a:r>
              <a:rPr lang="pt-BR" sz="2000" spc="-1" dirty="0">
                <a:solidFill>
                  <a:srgbClr val="000000"/>
                </a:solidFill>
                <a:uFill>
                  <a:solidFill>
                    <a:srgbClr val="FFFFFF"/>
                  </a:solidFill>
                </a:uFill>
              </a:rPr>
              <a:t>) deve ser aplicada para os casos de estreitamento.</a:t>
            </a:r>
          </a:p>
          <a:p>
            <a:pPr marL="1085760" lvl="2"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171360" indent="-171000" algn="just">
              <a:spcAft>
                <a:spcPts val="600"/>
              </a:spcAft>
              <a:buClr>
                <a:srgbClr val="000000"/>
              </a:buClr>
              <a:buFont typeface="Arial"/>
              <a:buChar char="•"/>
            </a:pPr>
            <a:r>
              <a:rPr lang="pt-BR" sz="2000" b="1" spc="-1" dirty="0">
                <a:solidFill>
                  <a:srgbClr val="000000"/>
                </a:solidFill>
                <a:uFill>
                  <a:solidFill>
                    <a:srgbClr val="FFFFFF"/>
                  </a:solidFill>
                </a:uFill>
              </a:rPr>
              <a:t>Equivalência de tipos</a:t>
            </a:r>
            <a:r>
              <a:rPr lang="pt-BR" sz="2000" spc="-1" dirty="0">
                <a:solidFill>
                  <a:srgbClr val="000000"/>
                </a:solidFill>
                <a:uFill>
                  <a:solidFill>
                    <a:srgbClr val="FFFFFF"/>
                  </a:solidFill>
                </a:uFill>
              </a:rPr>
              <a:t>:</a:t>
            </a:r>
          </a:p>
          <a:p>
            <a:pPr marL="628560" lvl="1" indent="-171000" algn="just">
              <a:spcAft>
                <a:spcPts val="600"/>
              </a:spcAft>
              <a:buClr>
                <a:srgbClr val="000000"/>
              </a:buClr>
              <a:buFont typeface="Arial"/>
              <a:buChar char="•"/>
            </a:pPr>
            <a:r>
              <a:rPr lang="pt-BR" sz="2000" dirty="0"/>
              <a:t>Java não realiza equivalência de tipos, pois aplica coerção quando possível.</a:t>
            </a:r>
          </a:p>
          <a:p>
            <a:pPr marL="1085760" lvl="2"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628560" lvl="1" indent="-171000" algn="just">
              <a:spcAft>
                <a:spcPts val="600"/>
              </a:spcAft>
              <a:buClr>
                <a:srgbClr val="000000"/>
              </a:buClr>
              <a:buFont typeface="Arial"/>
              <a:buChar char="•"/>
            </a:pP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6672319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Expressões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Precedência e associatividade dos operadores:</a:t>
            </a:r>
            <a:endParaRPr lang="pt-BR" sz="2000" dirty="0"/>
          </a:p>
          <a:p>
            <a:pPr marL="1085760" lvl="2"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628560" lvl="1" indent="-171000" algn="just">
              <a:spcAft>
                <a:spcPts val="600"/>
              </a:spcAft>
              <a:buClr>
                <a:srgbClr val="000000"/>
              </a:buClr>
              <a:buFont typeface="Arial"/>
              <a:buChar char="•"/>
            </a:pP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680" y="2064882"/>
            <a:ext cx="8809297" cy="4793118"/>
          </a:xfrm>
          <a:prstGeom prst="rect">
            <a:avLst/>
          </a:prstGeom>
        </p:spPr>
      </p:pic>
    </p:spTree>
    <p:extLst>
      <p:ext uri="{BB962C8B-B14F-4D97-AF65-F5344CB8AC3E}">
        <p14:creationId xmlns:p14="http://schemas.microsoft.com/office/powerpoint/2010/main" val="222598207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Expressões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Ordem de avaliação</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Definida pela associatividade dos operadores;</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Não possui transparência referencial, pois permite efeitos colaterais; </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Todos os operadores lógicos realizam avaliação curto-circuito;</a:t>
            </a:r>
          </a:p>
          <a:p>
            <a:pPr marL="628560" lvl="1"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rPr>
              <a:t>Sobrecarga de operadores</a:t>
            </a:r>
            <a:r>
              <a:rPr lang="pt-BR" sz="2200" spc="-1" dirty="0">
                <a:solidFill>
                  <a:srgbClr val="000000"/>
                </a:solidFill>
                <a:uFill>
                  <a:solidFill>
                    <a:srgbClr val="FFFFFF"/>
                  </a:solidFill>
                </a:uFill>
              </a:rPr>
              <a:t>:</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Não permite sobrecarga de operadores;</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Também não permite criar novos operadores.</a:t>
            </a:r>
          </a:p>
          <a:p>
            <a:pPr marL="628560" lvl="1"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rPr>
              <a:t>Operadores relacionais</a:t>
            </a:r>
            <a:r>
              <a:rPr lang="pt-BR" sz="2200" spc="-1" dirty="0">
                <a:solidFill>
                  <a:srgbClr val="000000"/>
                </a:solidFill>
                <a:uFill>
                  <a:solidFill>
                    <a:srgbClr val="FFFFFF"/>
                  </a:solidFill>
                </a:uFill>
              </a:rPr>
              <a:t>:</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Como Java possui o tipo booleano (</a:t>
            </a:r>
            <a:r>
              <a:rPr lang="pt-BR" sz="2000" spc="-1" dirty="0" err="1">
                <a:solidFill>
                  <a:srgbClr val="000000"/>
                </a:solidFill>
                <a:uFill>
                  <a:solidFill>
                    <a:srgbClr val="FFFFFF"/>
                  </a:solidFill>
                </a:uFill>
              </a:rPr>
              <a:t>boolean</a:t>
            </a:r>
            <a:r>
              <a:rPr lang="pt-BR" sz="2000" spc="-1" dirty="0">
                <a:solidFill>
                  <a:srgbClr val="000000"/>
                </a:solidFill>
                <a:uFill>
                  <a:solidFill>
                    <a:srgbClr val="FFFFFF"/>
                  </a:solidFill>
                </a:uFill>
              </a:rPr>
              <a:t>/</a:t>
            </a:r>
            <a:r>
              <a:rPr lang="pt-BR" sz="2000" spc="-1" dirty="0" err="1">
                <a:solidFill>
                  <a:srgbClr val="000000"/>
                </a:solidFill>
                <a:uFill>
                  <a:solidFill>
                    <a:srgbClr val="FFFFFF"/>
                  </a:solidFill>
                </a:uFill>
              </a:rPr>
              <a:t>Boolean</a:t>
            </a:r>
            <a:r>
              <a:rPr lang="pt-BR" sz="2000" spc="-1" dirty="0">
                <a:solidFill>
                  <a:srgbClr val="000000"/>
                </a:solidFill>
                <a:uFill>
                  <a:solidFill>
                    <a:srgbClr val="FFFFFF"/>
                  </a:solidFill>
                </a:uFill>
              </a:rPr>
              <a:t>), os operadores relacionais e lógicos resultam em valores booleanos.</a:t>
            </a:r>
          </a:p>
          <a:p>
            <a:pPr marL="628560" lvl="1"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628560" lvl="1" indent="-171000" algn="just">
              <a:spcAft>
                <a:spcPts val="600"/>
              </a:spcAft>
              <a:buClr>
                <a:srgbClr val="000000"/>
              </a:buClr>
              <a:buFont typeface="Arial"/>
              <a:buChar char="•"/>
            </a:pP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059179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Expressões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Sentenças de atribuição</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Possui operadores de atribuição composta (</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a:solidFill>
                  <a:srgbClr val="000000"/>
                </a:solidFill>
                <a:uFill>
                  <a:solidFill>
                    <a:srgbClr val="FFFFFF"/>
                  </a:solidFill>
                </a:uFill>
              </a:rPr>
              <a:t>, </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a:solidFill>
                  <a:srgbClr val="000000"/>
                </a:solidFill>
                <a:uFill>
                  <a:solidFill>
                    <a:srgbClr val="FFFFFF"/>
                  </a:solidFill>
                </a:uFill>
              </a:rPr>
              <a:t>, </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a:solidFill>
                  <a:srgbClr val="000000"/>
                </a:solidFill>
                <a:uFill>
                  <a:solidFill>
                    <a:srgbClr val="FFFFFF"/>
                  </a:solidFill>
                </a:uFill>
              </a:rPr>
              <a:t>, </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a:solidFill>
                  <a:srgbClr val="000000"/>
                </a:solidFill>
                <a:uFill>
                  <a:solidFill>
                    <a:srgbClr val="FFFFFF"/>
                  </a:solidFill>
                </a:uFill>
              </a:rPr>
              <a:t> e </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a:solidFill>
                  <a:srgbClr val="000000"/>
                </a:solidFill>
                <a:uFill>
                  <a:solidFill>
                    <a:srgbClr val="FFFFFF"/>
                  </a:solidFill>
                </a:uFill>
              </a:rPr>
              <a:t>) e atribuição unária (</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a:solidFill>
                  <a:srgbClr val="000000"/>
                </a:solidFill>
                <a:uFill>
                  <a:solidFill>
                    <a:srgbClr val="FFFFFF"/>
                  </a:solidFill>
                </a:uFill>
              </a:rPr>
              <a:t> e </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a:solidFill>
                  <a:srgbClr val="000000"/>
                </a:solidFill>
                <a:uFill>
                  <a:solidFill>
                    <a:srgbClr val="FFFFFF"/>
                  </a:solidFill>
                </a:uFill>
              </a:rPr>
              <a:t>);</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A atribuição gera uma expressão cujo resultado é o valor atribuído:</a:t>
            </a:r>
          </a:p>
          <a:p>
            <a:pPr marL="457560" lvl="1" algn="just">
              <a:spcAft>
                <a:spcPts val="600"/>
              </a:spcAft>
              <a:buClr>
                <a:srgbClr val="000000"/>
              </a:buClr>
            </a:pPr>
            <a:r>
              <a:rPr lang="pt-BR" sz="2000" spc="-1" dirty="0">
                <a:solidFill>
                  <a:srgbClr val="000000"/>
                </a:solidFill>
                <a:uFill>
                  <a:solidFill>
                    <a:srgbClr val="FFFFFF"/>
                  </a:solidFill>
                </a:uFill>
              </a:rPr>
              <a:t>	</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 = b = c = 0;</a:t>
            </a:r>
          </a:p>
          <a:p>
            <a:pPr marL="628560" lvl="1" indent="-171000" algn="just">
              <a:spcAft>
                <a:spcPts val="600"/>
              </a:spcAft>
              <a:buClr>
                <a:srgbClr val="000000"/>
              </a:buClr>
              <a:buFont typeface="Arial"/>
              <a:buChar char="•"/>
            </a:pPr>
            <a:r>
              <a:rPr lang="pt-BR" sz="2000" spc="-1" dirty="0">
                <a:solidFill>
                  <a:srgbClr val="000000"/>
                </a:solidFill>
                <a:uFill>
                  <a:solidFill>
                    <a:srgbClr val="FFFFFF"/>
                  </a:solidFill>
                </a:uFill>
              </a:rPr>
              <a:t>Não possui atribuição condicional nem atribuição de lista.</a:t>
            </a:r>
          </a:p>
          <a:p>
            <a:pPr marL="628560" lvl="1"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628560" lvl="1"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628560" lvl="1"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628560" lvl="1" indent="-171000" algn="just">
              <a:spcAft>
                <a:spcPts val="600"/>
              </a:spcAft>
              <a:buClr>
                <a:srgbClr val="000000"/>
              </a:buClr>
              <a:buFont typeface="Arial"/>
              <a:buChar char="•"/>
            </a:pP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3412793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Estruturas de Controle</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Regras gerais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mj-lt"/>
              </a:rPr>
              <a:t>O uso de chaves permitem acrescentar mais de uma expressão em cada estrutura;</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mj-lt"/>
              </a:rPr>
              <a:t>Somente expressões booleanas são válidas na condição; </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mj-lt"/>
              </a:rPr>
              <a:t>Instruções </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continue </a:t>
            </a:r>
            <a:r>
              <a:rPr lang="pt-BR" sz="2200" spc="-1" dirty="0">
                <a:solidFill>
                  <a:srgbClr val="000000"/>
                </a:solidFill>
                <a:uFill>
                  <a:solidFill>
                    <a:srgbClr val="FFFFFF"/>
                  </a:solidFill>
                </a:uFill>
                <a:latin typeface="+mj-lt"/>
              </a:rPr>
              <a:t>e </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break</a:t>
            </a:r>
            <a:r>
              <a:rPr lang="pt-BR" sz="2200" spc="-1" dirty="0">
                <a:solidFill>
                  <a:srgbClr val="000000"/>
                </a:solidFill>
                <a:uFill>
                  <a:solidFill>
                    <a:srgbClr val="FFFFFF"/>
                  </a:solidFill>
                </a:uFill>
                <a:latin typeface="+mj-lt"/>
              </a:rPr>
              <a:t>, permitem, respectivamente, forçar um salto ou a saída de uma estrutura;</a:t>
            </a:r>
          </a:p>
        </p:txBody>
      </p:sp>
    </p:spTree>
    <p:extLst>
      <p:ext uri="{BB962C8B-B14F-4D97-AF65-F5344CB8AC3E}">
        <p14:creationId xmlns:p14="http://schemas.microsoft.com/office/powerpoint/2010/main" val="138436638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Estruturas de Controle</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Estruturas de seleção de dois caminhos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000" b="1" spc="-1" dirty="0" err="1">
                <a:solidFill>
                  <a:srgbClr val="000000"/>
                </a:solidFill>
                <a:uFill>
                  <a:solidFill>
                    <a:srgbClr val="FFFFFF"/>
                  </a:solidFill>
                </a:uFill>
              </a:rPr>
              <a:t>if-else</a:t>
            </a:r>
            <a:r>
              <a:rPr lang="pt-BR" sz="2000" spc="-1" dirty="0">
                <a:solidFill>
                  <a:srgbClr val="000000"/>
                </a:solidFill>
                <a:uFill>
                  <a:solidFill>
                    <a:srgbClr val="FFFFFF"/>
                  </a:solidFill>
                </a:uFill>
              </a:rPr>
              <a:t>:</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O </a:t>
            </a:r>
            <a:r>
              <a:rPr lang="pt-BR" sz="2000" spc="-1" dirty="0" err="1">
                <a:solidFill>
                  <a:srgbClr val="000000"/>
                </a:solidFill>
                <a:uFill>
                  <a:solidFill>
                    <a:srgbClr val="FFFFFF"/>
                  </a:solidFill>
                </a:uFill>
              </a:rPr>
              <a:t>else</a:t>
            </a:r>
            <a:r>
              <a:rPr lang="pt-BR" sz="2000" spc="-1" dirty="0">
                <a:solidFill>
                  <a:srgbClr val="000000"/>
                </a:solidFill>
                <a:uFill>
                  <a:solidFill>
                    <a:srgbClr val="FFFFFF"/>
                  </a:solidFill>
                </a:uFill>
              </a:rPr>
              <a:t> pertence ao </a:t>
            </a:r>
            <a:r>
              <a:rPr lang="pt-BR" sz="2000" spc="-1" dirty="0" err="1">
                <a:solidFill>
                  <a:srgbClr val="000000"/>
                </a:solidFill>
                <a:uFill>
                  <a:solidFill>
                    <a:srgbClr val="FFFFFF"/>
                  </a:solidFill>
                </a:uFill>
              </a:rPr>
              <a:t>if</a:t>
            </a:r>
            <a:r>
              <a:rPr lang="pt-BR" sz="2000" spc="-1" dirty="0">
                <a:solidFill>
                  <a:srgbClr val="000000"/>
                </a:solidFill>
                <a:uFill>
                  <a:solidFill>
                    <a:srgbClr val="FFFFFF"/>
                  </a:solidFill>
                </a:uFill>
              </a:rPr>
              <a:t> anterior mais próximo;</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Permite </a:t>
            </a:r>
            <a:r>
              <a:rPr lang="pt-BR" sz="2000" spc="-1" dirty="0" err="1">
                <a:solidFill>
                  <a:srgbClr val="000000"/>
                </a:solidFill>
                <a:uFill>
                  <a:solidFill>
                    <a:srgbClr val="FFFFFF"/>
                  </a:solidFill>
                </a:uFill>
              </a:rPr>
              <a:t>else-if</a:t>
            </a:r>
            <a:r>
              <a:rPr lang="pt-BR" sz="2000" spc="-1" dirty="0">
                <a:solidFill>
                  <a:srgbClr val="000000"/>
                </a:solidFill>
                <a:uFill>
                  <a:solidFill>
                    <a:srgbClr val="FFFFFF"/>
                  </a:solidFill>
                </a:uFill>
              </a:rPr>
              <a:t> aninhados;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if</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 &gt; b)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maior = a;</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457560" lvl="1" algn="just">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else</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maior = b;</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628560" lvl="1"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628560" lvl="1" indent="-171000" algn="just">
              <a:spcAft>
                <a:spcPts val="600"/>
              </a:spcAft>
              <a:buClr>
                <a:srgbClr val="000000"/>
              </a:buClr>
              <a:buFont typeface="Arial"/>
              <a:buChar char="•"/>
            </a:pP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9467004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Estruturas de Controle</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Estruturas de seleção múltiplas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000" b="1" spc="-1" dirty="0">
                <a:solidFill>
                  <a:srgbClr val="000000"/>
                </a:solidFill>
                <a:uFill>
                  <a:solidFill>
                    <a:srgbClr val="FFFFFF"/>
                  </a:solidFill>
                </a:uFill>
              </a:rPr>
              <a:t>switch</a:t>
            </a:r>
            <a:r>
              <a:rPr lang="pt-BR" sz="2000" spc="-1" dirty="0">
                <a:solidFill>
                  <a:srgbClr val="000000"/>
                </a:solidFill>
                <a:uFill>
                  <a:solidFill>
                    <a:srgbClr val="FFFFFF"/>
                  </a:solidFill>
                </a:uFill>
              </a:rPr>
              <a:t>:</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Casa caso permite apenas valores ordinais ou </a:t>
            </a:r>
            <a:r>
              <a:rPr lang="pt-BR" sz="2000" spc="-1" dirty="0" err="1">
                <a:solidFill>
                  <a:srgbClr val="000000"/>
                </a:solidFill>
                <a:uFill>
                  <a:solidFill>
                    <a:srgbClr val="FFFFFF"/>
                  </a:solidFill>
                </a:uFill>
              </a:rPr>
              <a:t>String</a:t>
            </a:r>
            <a:r>
              <a:rPr lang="pt-BR" sz="2000" spc="-1" dirty="0">
                <a:solidFill>
                  <a:srgbClr val="000000"/>
                </a:solidFill>
                <a:uFill>
                  <a:solidFill>
                    <a:srgbClr val="FFFFFF"/>
                  </a:solidFill>
                </a:uFill>
              </a:rPr>
              <a:t> (Java 8.0);</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Possui o caso default, para quando nenhum dos anteriores foi selecionado;</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Não é obrigatório cobrir todos os casos do tipo da variável avaliada;</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Não permite construções fora dos casos; </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Permite executar mais de um caso.</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switch(a) {</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case 1: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System.out.println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"Digitou um" ); break;</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case 2: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System.out.println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"Digitou dois" ); break;</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default: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System.out.println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"Digitou outra coisa" );</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628560" lvl="1"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628560" lvl="1" indent="-171000" algn="just">
              <a:spcAft>
                <a:spcPts val="600"/>
              </a:spcAft>
              <a:buClr>
                <a:srgbClr val="000000"/>
              </a:buClr>
              <a:buFont typeface="Arial"/>
              <a:buChar char="•"/>
            </a:pPr>
            <a:endParaRPr lang="pt-BR" sz="2000" b="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5625060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Estruturas de Controle</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Estruturas de iteração condicionais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000" b="1" spc="-1" dirty="0" err="1">
                <a:solidFill>
                  <a:srgbClr val="000000"/>
                </a:solidFill>
                <a:uFill>
                  <a:solidFill>
                    <a:srgbClr val="FFFFFF"/>
                  </a:solidFill>
                </a:uFill>
              </a:rPr>
              <a:t>while</a:t>
            </a:r>
            <a:r>
              <a:rPr lang="pt-BR" sz="2000" spc="-1" dirty="0">
                <a:solidFill>
                  <a:srgbClr val="000000"/>
                </a:solidFill>
                <a:uFill>
                  <a:solidFill>
                    <a:srgbClr val="FFFFFF"/>
                  </a:solidFill>
                </a:uFill>
              </a:rPr>
              <a:t>:</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Somente expressões booleanas são válidas na condição;</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O uso de chaves permitem acrescentar mais de uma expressão em cada estrutura; </a:t>
            </a:r>
          </a:p>
          <a:p>
            <a:pPr marL="1085760" lvl="2"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457560" lvl="1" algn="just">
              <a:spcAft>
                <a:spcPts val="600"/>
              </a:spcAft>
              <a:buClr>
                <a:srgbClr val="000000"/>
              </a:buClr>
            </a:pP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 = 0;</a:t>
            </a:r>
          </a:p>
          <a:p>
            <a:pPr marL="457560" lvl="1" algn="just">
              <a:spcAft>
                <a:spcPts val="600"/>
              </a:spcAft>
              <a:buClr>
                <a:srgbClr val="000000"/>
              </a:buClr>
            </a:pP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while</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a &gt; 0 ); { //nunca entra</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 + " ");</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8199700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Estruturas de Controle</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Estruturas de iteração condicionais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000" b="1" spc="-1" dirty="0">
                <a:solidFill>
                  <a:srgbClr val="000000"/>
                </a:solidFill>
                <a:uFill>
                  <a:solidFill>
                    <a:srgbClr val="FFFFFF"/>
                  </a:solidFill>
                </a:uFill>
              </a:rPr>
              <a:t>do-</a:t>
            </a:r>
            <a:r>
              <a:rPr lang="pt-BR" sz="2000" b="1" spc="-1" dirty="0" err="1">
                <a:solidFill>
                  <a:srgbClr val="000000"/>
                </a:solidFill>
                <a:uFill>
                  <a:solidFill>
                    <a:srgbClr val="FFFFFF"/>
                  </a:solidFill>
                </a:uFill>
              </a:rPr>
              <a:t>while</a:t>
            </a:r>
            <a:r>
              <a:rPr lang="pt-BR" sz="2000" spc="-1" dirty="0">
                <a:solidFill>
                  <a:srgbClr val="000000"/>
                </a:solidFill>
                <a:uFill>
                  <a:solidFill>
                    <a:srgbClr val="FFFFFF"/>
                  </a:solidFill>
                </a:uFill>
              </a:rPr>
              <a:t>:</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Semelhante ao </a:t>
            </a:r>
            <a:r>
              <a:rPr lang="pt-BR" sz="2000" spc="-1" dirty="0" err="1">
                <a:solidFill>
                  <a:srgbClr val="000000"/>
                </a:solidFill>
                <a:uFill>
                  <a:solidFill>
                    <a:srgbClr val="FFFFFF"/>
                  </a:solidFill>
                </a:uFill>
              </a:rPr>
              <a:t>while</a:t>
            </a:r>
            <a:r>
              <a:rPr lang="pt-BR" sz="2000" spc="-1" dirty="0">
                <a:solidFill>
                  <a:srgbClr val="000000"/>
                </a:solidFill>
                <a:uFill>
                  <a:solidFill>
                    <a:srgbClr val="FFFFFF"/>
                  </a:solidFill>
                </a:uFill>
              </a:rPr>
              <a:t>, porém executa primeiro e verifica depois;</a:t>
            </a:r>
          </a:p>
          <a:p>
            <a:pPr marL="1085760" lvl="2"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457560" lvl="1" algn="just">
              <a:spcAft>
                <a:spcPts val="600"/>
              </a:spcAft>
              <a:buClr>
                <a:srgbClr val="000000"/>
              </a:buClr>
            </a:pP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 = 0;</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do {</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 + " ");</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a:t>
            </a:r>
          </a:p>
          <a:p>
            <a:pPr marL="457560" lvl="1"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457560" lvl="1" algn="just">
              <a:spcAft>
                <a:spcPts val="600"/>
              </a:spcAft>
              <a:buClr>
                <a:srgbClr val="000000"/>
              </a:buClr>
            </a:pP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while</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a &gt; 0 ); //imprime 0</a:t>
            </a: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6611172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Estruturas de Controle</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Estruturas de iteração com contador</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000" b="1" spc="-1" dirty="0">
                <a:solidFill>
                  <a:srgbClr val="000000"/>
                </a:solidFill>
                <a:uFill>
                  <a:solidFill>
                    <a:srgbClr val="FFFFFF"/>
                  </a:solidFill>
                </a:uFill>
              </a:rPr>
              <a:t>for</a:t>
            </a:r>
            <a:r>
              <a:rPr lang="pt-BR" sz="2000" spc="-1" dirty="0">
                <a:solidFill>
                  <a:srgbClr val="000000"/>
                </a:solidFill>
                <a:uFill>
                  <a:solidFill>
                    <a:srgbClr val="FFFFFF"/>
                  </a:solidFill>
                </a:uFill>
              </a:rPr>
              <a:t>:</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As variáveis criadas dentro do for tem escopo local do método, portanto, continuam existindo após a estrutura;</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Permite alterar o valor da variável contadora da iteração;</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Permite definir o tamanho do passo;</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Somente expressões booleanas são válidas na condição;</a:t>
            </a:r>
          </a:p>
          <a:p>
            <a:pPr marL="1085760" lvl="2"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1371960" lvl="3"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for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i = 0; i &lt; 5; i++) { //imprime 0 1 2 3 4</a:t>
            </a:r>
          </a:p>
          <a:p>
            <a:pPr marL="1371960" lvl="3"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i + " ");</a:t>
            </a:r>
          </a:p>
          <a:p>
            <a:pPr marL="1371960" lvl="3"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2343888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Estruturas de Controle</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Iteração baseada em estruturas de dados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000" b="1" spc="-1" dirty="0">
                <a:solidFill>
                  <a:srgbClr val="000000"/>
                </a:solidFill>
                <a:uFill>
                  <a:solidFill>
                    <a:srgbClr val="FFFFFF"/>
                  </a:solidFill>
                </a:uFill>
              </a:rPr>
              <a:t>for</a:t>
            </a:r>
            <a:r>
              <a:rPr lang="pt-BR" sz="2000" spc="-1" dirty="0">
                <a:solidFill>
                  <a:srgbClr val="000000"/>
                </a:solidFill>
                <a:uFill>
                  <a:solidFill>
                    <a:srgbClr val="FFFFFF"/>
                  </a:solidFill>
                </a:uFill>
              </a:rPr>
              <a:t>:</a:t>
            </a:r>
          </a:p>
          <a:p>
            <a:pPr marL="1085760" lvl="2" indent="-171000" algn="just">
              <a:spcAft>
                <a:spcPts val="600"/>
              </a:spcAft>
              <a:buClr>
                <a:srgbClr val="000000"/>
              </a:buClr>
              <a:buFont typeface="Arial"/>
              <a:buChar char="•"/>
            </a:pPr>
            <a:r>
              <a:rPr lang="pt-BR" sz="2000" spc="-1" dirty="0">
                <a:solidFill>
                  <a:srgbClr val="000000"/>
                </a:solidFill>
                <a:uFill>
                  <a:solidFill>
                    <a:srgbClr val="FFFFFF"/>
                  </a:solidFill>
                </a:uFill>
              </a:rPr>
              <a:t>Desde o Java 5.0, possui uma versão que itera sobre elementos de classes que implementam a interface </a:t>
            </a:r>
            <a:r>
              <a:rPr lang="pt-BR" sz="2000" spc="-1" dirty="0" err="1">
                <a:solidFill>
                  <a:srgbClr val="000000"/>
                </a:solidFill>
                <a:uFill>
                  <a:solidFill>
                    <a:srgbClr val="FFFFFF"/>
                  </a:solidFill>
                </a:uFill>
              </a:rPr>
              <a:t>Iterable</a:t>
            </a:r>
            <a:r>
              <a:rPr lang="pt-BR" sz="2000" spc="-1" dirty="0">
                <a:solidFill>
                  <a:srgbClr val="000000"/>
                </a:solidFill>
                <a:uFill>
                  <a:solidFill>
                    <a:srgbClr val="FFFFFF"/>
                  </a:solidFill>
                </a:uFill>
              </a:rPr>
              <a:t>.</a:t>
            </a:r>
          </a:p>
          <a:p>
            <a:pPr marL="1085760" lvl="2" indent="-171000" algn="just">
              <a:spcAft>
                <a:spcPts val="600"/>
              </a:spcAft>
              <a:buClr>
                <a:srgbClr val="000000"/>
              </a:buClr>
              <a:buFont typeface="Arial"/>
              <a:buChar char="•"/>
            </a:pPr>
            <a:endParaRPr lang="pt-BR" sz="2000" spc="-1" dirty="0">
              <a:solidFill>
                <a:srgbClr val="000000"/>
              </a:solidFill>
              <a:uFill>
                <a:solidFill>
                  <a:srgbClr val="FFFFFF"/>
                </a:solidFill>
              </a:uFill>
            </a:endParaRPr>
          </a:p>
          <a:p>
            <a:pPr marL="1371960" lvl="3" algn="just">
              <a:spcAft>
                <a:spcPts val="600"/>
              </a:spcAft>
              <a:buClr>
                <a:srgbClr val="000000"/>
              </a:buClr>
            </a:pP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vetor[] = {1,2,3,4,5};</a:t>
            </a:r>
          </a:p>
          <a:p>
            <a:pPr marL="1371960" lvl="3"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for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 : vetor)</a:t>
            </a:r>
          </a:p>
          <a:p>
            <a:pPr marL="1371960" lvl="3" algn="just">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 + " ");</a:t>
            </a:r>
          </a:p>
        </p:txBody>
      </p:sp>
    </p:spTree>
    <p:extLst>
      <p:ext uri="{BB962C8B-B14F-4D97-AF65-F5344CB8AC3E}">
        <p14:creationId xmlns:p14="http://schemas.microsoft.com/office/powerpoint/2010/main" val="339209454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Subprogramas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Informações gerais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mj-lt"/>
              </a:rPr>
              <a:t>Todos os subprogramas são funções (não há procedimentos nem </a:t>
            </a:r>
            <a:r>
              <a:rPr lang="pt-BR" sz="2200" spc="-1" dirty="0" err="1">
                <a:solidFill>
                  <a:srgbClr val="000000"/>
                </a:solidFill>
                <a:uFill>
                  <a:solidFill>
                    <a:srgbClr val="FFFFFF"/>
                  </a:solidFill>
                </a:uFill>
                <a:latin typeface="+mj-lt"/>
              </a:rPr>
              <a:t>corrotinas</a:t>
            </a:r>
            <a:r>
              <a:rPr lang="pt-BR" sz="2200" spc="-1" dirty="0">
                <a:solidFill>
                  <a:srgbClr val="000000"/>
                </a:solidFill>
                <a:uFill>
                  <a:solidFill>
                    <a:srgbClr val="FFFFFF"/>
                  </a:solidFill>
                </a:uFill>
                <a:latin typeface="+mj-lt"/>
              </a:rPr>
              <a:t>), que são chamadas de métodos;</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mj-lt"/>
              </a:rPr>
              <a:t>Não permite criar subprogramas dentro de subprogramas;</a:t>
            </a:r>
          </a:p>
          <a:p>
            <a:pPr marL="628560" lvl="1" indent="-171000" algn="just">
              <a:spcAft>
                <a:spcPts val="600"/>
              </a:spcAft>
              <a:buClr>
                <a:srgbClr val="000000"/>
              </a:buClr>
              <a:buFont typeface="Arial"/>
              <a:buChar char="•"/>
            </a:pPr>
            <a:r>
              <a:rPr lang="pt-BR" sz="2200" dirty="0">
                <a:latin typeface="+mj-lt"/>
              </a:rPr>
              <a:t>A correspondência entre os parâmetros reais e formais é </a:t>
            </a:r>
            <a:r>
              <a:rPr lang="pt-BR" sz="2200" b="1" dirty="0">
                <a:latin typeface="+mj-lt"/>
              </a:rPr>
              <a:t>posicional</a:t>
            </a:r>
            <a:r>
              <a:rPr lang="pt-BR" sz="2200" dirty="0">
                <a:latin typeface="+mj-lt"/>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Na chamada, a quantidade de parâmetros formais deve casar com a de parâmetros reais;</a:t>
            </a:r>
            <a:endParaRPr lang="pt-BR" sz="2200" dirty="0">
              <a:latin typeface="+mj-lt"/>
            </a:endParaRPr>
          </a:p>
          <a:p>
            <a:pPr marL="628560" lvl="1" indent="-171000" algn="just">
              <a:spcAft>
                <a:spcPts val="600"/>
              </a:spcAft>
              <a:buClr>
                <a:srgbClr val="000000"/>
              </a:buClr>
              <a:buFont typeface="Arial"/>
              <a:buChar char="•"/>
            </a:pPr>
            <a:r>
              <a:rPr lang="pt-BR" sz="2200" dirty="0">
                <a:latin typeface="+mj-lt"/>
              </a:rPr>
              <a:t>Realiza verificação de tipo nos parâmetros;</a:t>
            </a:r>
          </a:p>
        </p:txBody>
      </p:sp>
    </p:spTree>
    <p:extLst>
      <p:ext uri="{BB962C8B-B14F-4D97-AF65-F5344CB8AC3E}">
        <p14:creationId xmlns:p14="http://schemas.microsoft.com/office/powerpoint/2010/main" val="190995488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Subprogramas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Passagem de parâmetros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Permite valores default para os parâmetros;</a:t>
            </a:r>
          </a:p>
          <a:p>
            <a:pPr marL="914760" lvl="2" algn="just">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soma(</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a=0,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b=0) {</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return</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 + b;</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200" spc="-1" dirty="0">
              <a:solidFill>
                <a:srgbClr val="000000"/>
              </a:solidFill>
              <a:uFill>
                <a:solidFill>
                  <a:srgbClr val="FFFFFF"/>
                </a:solidFill>
              </a:uFill>
            </a:endParaRPr>
          </a:p>
          <a:p>
            <a:pPr lvl="1"/>
            <a:endParaRPr lang="pt-BR" dirty="0"/>
          </a:p>
          <a:p>
            <a:pPr lvl="1" algn="just"/>
            <a:r>
              <a:rPr lang="pt-BR" sz="2200" dirty="0">
                <a:latin typeface="+mj-lt"/>
              </a:rPr>
              <a:t>Como cada dimensão das matrizes possui um atributo que indica o seu tamanho, não é necessário informar o tamanho das dimensões nos parâmetros dos subprogramas.</a:t>
            </a:r>
          </a:p>
          <a:p>
            <a:pPr lvl="1" algn="just"/>
            <a:endParaRPr lang="pt-BR" sz="2200" dirty="0">
              <a:latin typeface="Courier New" panose="02070309020205020404" pitchFamily="49" charset="0"/>
              <a:cs typeface="Courier New" panose="02070309020205020404" pitchFamily="49" charset="0"/>
            </a:endParaRPr>
          </a:p>
          <a:p>
            <a:pPr marL="114300" indent="0" algn="ctr">
              <a:buNone/>
            </a:pPr>
            <a:r>
              <a:rPr lang="pt-BR" sz="2000" dirty="0" err="1">
                <a:latin typeface="Courier New" panose="02070309020205020404" pitchFamily="49" charset="0"/>
                <a:cs typeface="Courier New" panose="02070309020205020404" pitchFamily="49" charset="0"/>
              </a:rPr>
              <a:t>void</a:t>
            </a:r>
            <a:r>
              <a:rPr lang="pt-BR" sz="2000" dirty="0">
                <a:latin typeface="Courier New" panose="02070309020205020404" pitchFamily="49" charset="0"/>
                <a:cs typeface="Courier New" panose="02070309020205020404" pitchFamily="49" charset="0"/>
              </a:rPr>
              <a:t> </a:t>
            </a:r>
            <a:r>
              <a:rPr lang="pt-BR" sz="2000" dirty="0" err="1">
                <a:latin typeface="Courier New" panose="02070309020205020404" pitchFamily="49" charset="0"/>
                <a:cs typeface="Courier New" panose="02070309020205020404" pitchFamily="49" charset="0"/>
              </a:rPr>
              <a:t>fun</a:t>
            </a:r>
            <a:r>
              <a:rPr lang="pt-BR" sz="2000" dirty="0">
                <a:latin typeface="Courier New" panose="02070309020205020404" pitchFamily="49" charset="0"/>
                <a:cs typeface="Courier New" panose="02070309020205020404" pitchFamily="49" charset="0"/>
              </a:rPr>
              <a:t>(</a:t>
            </a:r>
            <a:r>
              <a:rPr lang="pt-BR" sz="2000" dirty="0" err="1">
                <a:latin typeface="Courier New" panose="02070309020205020404" pitchFamily="49" charset="0"/>
                <a:cs typeface="Courier New" panose="02070309020205020404" pitchFamily="49" charset="0"/>
              </a:rPr>
              <a:t>int</a:t>
            </a:r>
            <a:r>
              <a:rPr lang="pt-BR" sz="2000" dirty="0">
                <a:latin typeface="Courier New" panose="02070309020205020404" pitchFamily="49" charset="0"/>
                <a:cs typeface="Courier New" panose="02070309020205020404" pitchFamily="49" charset="0"/>
              </a:rPr>
              <a:t> </a:t>
            </a:r>
            <a:r>
              <a:rPr lang="pt-BR" sz="2000" dirty="0" err="1">
                <a:latin typeface="Courier New" panose="02070309020205020404" pitchFamily="49" charset="0"/>
                <a:cs typeface="Courier New" panose="02070309020205020404" pitchFamily="49" charset="0"/>
              </a:rPr>
              <a:t>matrix</a:t>
            </a:r>
            <a:r>
              <a:rPr lang="pt-BR" sz="2000" dirty="0">
                <a:latin typeface="Courier New" panose="02070309020205020404" pitchFamily="49" charset="0"/>
                <a:cs typeface="Courier New" panose="02070309020205020404" pitchFamily="49" charset="0"/>
              </a:rPr>
              <a:t>[][]) { ... }</a:t>
            </a:r>
          </a:p>
        </p:txBody>
      </p:sp>
    </p:spTree>
    <p:extLst>
      <p:ext uri="{BB962C8B-B14F-4D97-AF65-F5344CB8AC3E}">
        <p14:creationId xmlns:p14="http://schemas.microsoft.com/office/powerpoint/2010/main" val="359185295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Subprogramas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Passagem de parâmetros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Permite um número indefinidos de parâmetros do mesmo tipo.</a:t>
            </a:r>
          </a:p>
          <a:p>
            <a:pPr marL="457560" lvl="1" algn="just">
              <a:spcAft>
                <a:spcPts val="600"/>
              </a:spcAft>
              <a:buClr>
                <a:srgbClr val="000000"/>
              </a:buClr>
            </a:pPr>
            <a:endParaRPr lang="pt-BR" sz="2200" spc="-1" dirty="0">
              <a:solidFill>
                <a:srgbClr val="000000"/>
              </a:solidFill>
              <a:uFill>
                <a:solidFill>
                  <a:srgbClr val="FFFFFF"/>
                </a:solidFill>
              </a:uFill>
            </a:endParaRPr>
          </a:p>
          <a:p>
            <a:pPr marL="457560" lvl="1" algn="just">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static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soma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Integer</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elementos)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resultado = 0;</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for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Integer</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valor : elementos)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resultado += valor;</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return</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resultado;</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2233634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Subprogramas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Métodos de passagem de parâmetros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mj-lt"/>
              </a:rPr>
              <a:t>Possui apenas passagem por valor;</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mj-lt"/>
              </a:rPr>
              <a:t>Quando o parâmetro real é uma referência, o endereço armazenado é passado, simulando uma passagem por referência;</a:t>
            </a:r>
          </a:p>
          <a:p>
            <a:pPr marL="914760" lvl="2" algn="just">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trocaRG</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(Pessoa x,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rg</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x.setRG</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rg</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Pessoa p = new Pessoa(123,”Joao”);</a:t>
            </a:r>
          </a:p>
          <a:p>
            <a:pPr marL="914760" lvl="2" algn="just">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trocaRG</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(p, 456);</a:t>
            </a:r>
          </a:p>
          <a:p>
            <a:pPr marL="914760" lvl="2" algn="just">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p.getRG</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//imprime 456 </a:t>
            </a:r>
            <a:endParaRPr lang="pt-BR" sz="2200" spc="-1" dirty="0">
              <a:solidFill>
                <a:srgbClr val="000000"/>
              </a:solidFill>
              <a:uFill>
                <a:solidFill>
                  <a:srgbClr val="FFFFFF"/>
                </a:solidFill>
              </a:uFill>
            </a:endParaRPr>
          </a:p>
        </p:txBody>
      </p:sp>
    </p:spTree>
    <p:extLst>
      <p:ext uri="{BB962C8B-B14F-4D97-AF65-F5344CB8AC3E}">
        <p14:creationId xmlns:p14="http://schemas.microsoft.com/office/powerpoint/2010/main" val="318267525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Subprogramas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trike="noStrike" spc="-1" dirty="0">
                <a:solidFill>
                  <a:srgbClr val="000000"/>
                </a:solidFill>
                <a:uFill>
                  <a:solidFill>
                    <a:srgbClr val="FFFFFF"/>
                  </a:solidFill>
                </a:uFill>
                <a:latin typeface="Arial"/>
              </a:rPr>
              <a:t>Subprograma como parâmetro</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mj-lt"/>
              </a:rPr>
              <a:t>Por padrão, não é possível. Porém, pode ser simulado com o uso de reflexão.</a:t>
            </a:r>
          </a:p>
          <a:p>
            <a:pPr marL="360">
              <a:spcAft>
                <a:spcPts val="600"/>
              </a:spcAft>
              <a:buClr>
                <a:srgbClr val="000000"/>
              </a:buClr>
            </a:pP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static</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executar(</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Method</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metodo</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vetor)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try</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metodo.invoke</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null</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new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Object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vetor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catch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IllegalAccessException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e)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throw</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new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RuntimeException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(e);</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catch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InvocationTargetException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e)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throw</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new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RuntimeException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(e);</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360">
              <a:spcAft>
                <a:spcPts val="600"/>
              </a:spcAft>
              <a:buClr>
                <a:srgbClr val="000000"/>
              </a:buClr>
            </a:pP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Method</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metodo</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Sorting.class.getDeclaredMethod</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staticSort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class</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executar(</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metodo</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vetor);</a:t>
            </a:r>
          </a:p>
        </p:txBody>
      </p:sp>
    </p:spTree>
    <p:extLst>
      <p:ext uri="{BB962C8B-B14F-4D97-AF65-F5344CB8AC3E}">
        <p14:creationId xmlns:p14="http://schemas.microsoft.com/office/powerpoint/2010/main" val="36030901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Subprogramas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Sobrecarga:</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Os métodos podem ser sobrecarregados dentro de uma classe, possuindo o mesmo nome e parâmetros de entrada diferentes;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Não diferencia pelo tipo de saída;</a:t>
            </a:r>
          </a:p>
          <a:p>
            <a:pPr marL="171360" indent="-171000" algn="just">
              <a:lnSpc>
                <a:spcPct val="100000"/>
              </a:lnSpc>
              <a:spcAft>
                <a:spcPts val="600"/>
              </a:spcAft>
              <a:buClr>
                <a:srgbClr val="000000"/>
              </a:buClr>
              <a:buFont typeface="Arial"/>
              <a:buChar char="•"/>
            </a:pPr>
            <a:endParaRPr lang="pt-BR" sz="2200" b="1" spc="-1" dirty="0">
              <a:solidFill>
                <a:srgbClr val="000000"/>
              </a:solidFill>
              <a:uFill>
                <a:solidFill>
                  <a:srgbClr val="FFFFFF"/>
                </a:solidFill>
              </a:uFill>
              <a:latin typeface="Arial"/>
            </a:endParaRPr>
          </a:p>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Subprogramas genéricos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Permite o uso de tipos genéricos na definição de funções:</a:t>
            </a:r>
            <a:endParaRPr lang="pt-BR" sz="2200" strike="noStrike" spc="-1" dirty="0">
              <a:solidFill>
                <a:srgbClr val="000000"/>
              </a:solidFill>
              <a:uFill>
                <a:solidFill>
                  <a:srgbClr val="FFFFFF"/>
                </a:solidFill>
              </a:uFill>
              <a:latin typeface="Arial"/>
            </a:endParaRPr>
          </a:p>
          <a:p>
            <a:pPr lvl="1"/>
            <a:r>
              <a:rPr lang="pt-BR" dirty="0" err="1">
                <a:latin typeface="Courier New" panose="02070309020205020404" pitchFamily="49" charset="0"/>
                <a:cs typeface="Courier New" panose="02070309020205020404" pitchFamily="49" charset="0"/>
              </a:rPr>
              <a:t>public</a:t>
            </a:r>
            <a:r>
              <a:rPr lang="pt-BR" dirty="0">
                <a:latin typeface="Courier New" panose="02070309020205020404" pitchFamily="49" charset="0"/>
                <a:cs typeface="Courier New" panose="02070309020205020404" pitchFamily="49" charset="0"/>
              </a:rPr>
              <a:t> &lt;T&gt; T </a:t>
            </a:r>
            <a:r>
              <a:rPr lang="pt-BR" dirty="0" err="1">
                <a:latin typeface="Courier New" panose="02070309020205020404" pitchFamily="49" charset="0"/>
                <a:cs typeface="Courier New" panose="02070309020205020404" pitchFamily="49" charset="0"/>
              </a:rPr>
              <a:t>façaAlgo</a:t>
            </a:r>
            <a:r>
              <a:rPr lang="pt-BR" dirty="0">
                <a:latin typeface="Courier New" panose="02070309020205020404" pitchFamily="49" charset="0"/>
                <a:cs typeface="Courier New" panose="02070309020205020404" pitchFamily="49" charset="0"/>
              </a:rPr>
              <a:t>(T a, T b) { ... }</a:t>
            </a:r>
          </a:p>
          <a:p>
            <a:pPr lvl="1"/>
            <a:endParaRPr lang="pt-BR" dirty="0">
              <a:latin typeface="Courier New" panose="02070309020205020404" pitchFamily="49" charset="0"/>
              <a:cs typeface="Courier New" panose="02070309020205020404" pitchFamily="49" charset="0"/>
            </a:endParaRPr>
          </a:p>
          <a:p>
            <a:pPr lvl="1"/>
            <a:r>
              <a:rPr lang="pt-BR" dirty="0" err="1">
                <a:latin typeface="Courier New" panose="02070309020205020404" pitchFamily="49" charset="0"/>
                <a:cs typeface="Courier New" panose="02070309020205020404" pitchFamily="49" charset="0"/>
              </a:rPr>
              <a:t>public</a:t>
            </a:r>
            <a:r>
              <a:rPr lang="pt-BR" dirty="0">
                <a:latin typeface="Courier New" panose="02070309020205020404" pitchFamily="49" charset="0"/>
                <a:cs typeface="Courier New" panose="02070309020205020404" pitchFamily="49" charset="0"/>
              </a:rPr>
              <a:t> &lt;T </a:t>
            </a:r>
            <a:r>
              <a:rPr lang="pt-BR" dirty="0" err="1">
                <a:latin typeface="Courier New" panose="02070309020205020404" pitchFamily="49" charset="0"/>
                <a:cs typeface="Courier New" panose="02070309020205020404" pitchFamily="49" charset="0"/>
              </a:rPr>
              <a:t>extends</a:t>
            </a:r>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Comparable</a:t>
            </a:r>
            <a:r>
              <a:rPr lang="pt-BR" dirty="0">
                <a:latin typeface="Courier New" panose="02070309020205020404" pitchFamily="49" charset="0"/>
                <a:cs typeface="Courier New" panose="02070309020205020404" pitchFamily="49" charset="0"/>
              </a:rPr>
              <a:t>&gt; T maior(T a, T b) { </a:t>
            </a:r>
          </a:p>
          <a:p>
            <a:pPr lvl="1"/>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if</a:t>
            </a:r>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a.compareTo</a:t>
            </a:r>
            <a:r>
              <a:rPr lang="pt-BR" dirty="0">
                <a:latin typeface="Courier New" panose="02070309020205020404" pitchFamily="49" charset="0"/>
                <a:cs typeface="Courier New" panose="02070309020205020404" pitchFamily="49" charset="0"/>
              </a:rPr>
              <a:t>(b) &gt;= 0) </a:t>
            </a:r>
            <a:r>
              <a:rPr lang="pt-BR" dirty="0" err="1">
                <a:latin typeface="Courier New" panose="02070309020205020404" pitchFamily="49" charset="0"/>
                <a:cs typeface="Courier New" panose="02070309020205020404" pitchFamily="49" charset="0"/>
              </a:rPr>
              <a:t>return</a:t>
            </a:r>
            <a:r>
              <a:rPr lang="pt-BR" dirty="0">
                <a:latin typeface="Courier New" panose="02070309020205020404" pitchFamily="49" charset="0"/>
                <a:cs typeface="Courier New" panose="02070309020205020404" pitchFamily="49" charset="0"/>
              </a:rPr>
              <a:t> a;</a:t>
            </a:r>
          </a:p>
          <a:p>
            <a:pPr lvl="1"/>
            <a:r>
              <a:rPr lang="pt-BR" dirty="0">
                <a:latin typeface="Courier New" panose="02070309020205020404" pitchFamily="49" charset="0"/>
                <a:cs typeface="Courier New" panose="02070309020205020404" pitchFamily="49" charset="0"/>
              </a:rPr>
              <a:t>  </a:t>
            </a:r>
            <a:r>
              <a:rPr lang="pt-BR" dirty="0" err="1">
                <a:latin typeface="Courier New" panose="02070309020205020404" pitchFamily="49" charset="0"/>
                <a:cs typeface="Courier New" panose="02070309020205020404" pitchFamily="49" charset="0"/>
              </a:rPr>
              <a:t>return</a:t>
            </a:r>
            <a:r>
              <a:rPr lang="pt-BR" dirty="0">
                <a:latin typeface="Courier New" panose="02070309020205020404" pitchFamily="49" charset="0"/>
                <a:cs typeface="Courier New" panose="02070309020205020404" pitchFamily="49" charset="0"/>
              </a:rPr>
              <a:t> b;</a:t>
            </a:r>
          </a:p>
          <a:p>
            <a:pPr lvl="1"/>
            <a:r>
              <a:rPr lang="pt-BR" dirty="0">
                <a:latin typeface="Courier New" panose="02070309020205020404" pitchFamily="49" charset="0"/>
                <a:cs typeface="Courier New" panose="02070309020205020404" pitchFamily="49" charset="0"/>
              </a:rPr>
              <a:t>}</a:t>
            </a:r>
          </a:p>
          <a:p>
            <a:pPr marL="628560" lvl="1" indent="-171000" algn="just">
              <a:spcAft>
                <a:spcPts val="600"/>
              </a:spcAft>
              <a:buClr>
                <a:srgbClr val="000000"/>
              </a:buClr>
              <a:buFont typeface="Arial"/>
              <a:buChar char="•"/>
            </a:pPr>
            <a:endParaRPr lang="pt-BR" sz="2200" spc="-1" dirty="0">
              <a:solidFill>
                <a:srgbClr val="000000"/>
              </a:solidFill>
              <a:uFill>
                <a:solidFill>
                  <a:srgbClr val="FFFFFF"/>
                </a:solidFill>
              </a:uFill>
              <a:latin typeface="Arial"/>
            </a:endParaRPr>
          </a:p>
          <a:p>
            <a:pPr marL="628560" lvl="1" indent="-171000" algn="just">
              <a:spcAft>
                <a:spcPts val="600"/>
              </a:spcAft>
              <a:buClr>
                <a:srgbClr val="000000"/>
              </a:buClr>
              <a:buFont typeface="Arial"/>
              <a:buChar char="•"/>
            </a:pPr>
            <a:endParaRPr lang="pt-BR" sz="220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139176402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Encapsulamento</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Os programas podem ser divididos em arquivos, cada um com uma ou mais classes;</a:t>
            </a:r>
          </a:p>
          <a:p>
            <a:pPr marL="171360" indent="-171000" algn="just">
              <a:lnSpc>
                <a:spcPct val="100000"/>
              </a:lnSpc>
              <a:spcAft>
                <a:spcPts val="600"/>
              </a:spcAft>
              <a:buClr>
                <a:srgbClr val="000000"/>
              </a:buClr>
              <a:buFont typeface="Arial"/>
              <a:buChar char="•"/>
            </a:pPr>
            <a:r>
              <a:rPr lang="pt-BR" sz="2200" spc="-1" dirty="0">
                <a:solidFill>
                  <a:srgbClr val="000000"/>
                </a:solidFill>
                <a:uFill>
                  <a:solidFill>
                    <a:srgbClr val="FFFFFF"/>
                  </a:solidFill>
                </a:uFill>
                <a:latin typeface="Arial"/>
                <a:cs typeface="Courier New" panose="02070309020205020404" pitchFamily="49" charset="0"/>
              </a:rPr>
              <a:t>As classes são organizadas em um hierarquia de pacotes;</a:t>
            </a:r>
          </a:p>
          <a:p>
            <a:pPr marL="171360" indent="-171000" algn="just">
              <a:lnSpc>
                <a:spcPct val="100000"/>
              </a:lnSpc>
              <a:spcAft>
                <a:spcPts val="600"/>
              </a:spcAft>
              <a:buClr>
                <a:srgbClr val="000000"/>
              </a:buClr>
              <a:buFont typeface="Arial"/>
              <a:buChar char="•"/>
            </a:pPr>
            <a:r>
              <a:rPr lang="pt-BR" sz="2200" strike="noStrike" spc="-1" dirty="0">
                <a:solidFill>
                  <a:srgbClr val="000000"/>
                </a:solidFill>
                <a:uFill>
                  <a:solidFill>
                    <a:srgbClr val="FFFFFF"/>
                  </a:solidFill>
                </a:uFill>
                <a:latin typeface="Arial"/>
                <a:cs typeface="Courier New" panose="02070309020205020404" pitchFamily="49" charset="0"/>
              </a:rPr>
              <a:t>Para usar uma classe de outro pacote é necessário usar o comando </a:t>
            </a:r>
            <a:r>
              <a:rPr lang="pt-BR" sz="2200" strike="noStrike" spc="-1" dirty="0" err="1">
                <a:solidFill>
                  <a:srgbClr val="000000"/>
                </a:solidFill>
                <a:uFill>
                  <a:solidFill>
                    <a:srgbClr val="FFFFFF"/>
                  </a:solidFill>
                </a:uFill>
                <a:latin typeface="Arial"/>
                <a:cs typeface="Courier New" panose="02070309020205020404" pitchFamily="49" charset="0"/>
              </a:rPr>
              <a:t>import</a:t>
            </a:r>
            <a:r>
              <a:rPr lang="pt-BR" sz="2200" strike="noStrike" spc="-1" dirty="0">
                <a:solidFill>
                  <a:srgbClr val="000000"/>
                </a:solidFill>
                <a:uFill>
                  <a:solidFill>
                    <a:srgbClr val="FFFFFF"/>
                  </a:solidFill>
                </a:uFill>
                <a:latin typeface="Arial"/>
                <a:cs typeface="Courier New" panose="02070309020205020404" pitchFamily="49" charset="0"/>
              </a:rPr>
              <a:t>;</a:t>
            </a:r>
          </a:p>
          <a:p>
            <a:pPr marL="360" algn="just">
              <a:lnSpc>
                <a:spcPct val="100000"/>
              </a:lnSpc>
              <a:spcAft>
                <a:spcPts val="600"/>
              </a:spcAft>
              <a:buClr>
                <a:srgbClr val="000000"/>
              </a:buClr>
            </a:pPr>
            <a:r>
              <a:rPr lang="pt-BR" sz="2200" spc="-1" dirty="0">
                <a:solidFill>
                  <a:srgbClr val="000000"/>
                </a:solidFill>
                <a:uFill>
                  <a:solidFill>
                    <a:srgbClr val="FFFFFF"/>
                  </a:solidFill>
                </a:uFill>
                <a:latin typeface="Arial"/>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import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java.util.List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360" algn="just">
              <a:lnSpc>
                <a:spcPct val="100000"/>
              </a:lnSpc>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import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javax.swing</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360" algn="just">
              <a:lnSpc>
                <a:spcPct val="100000"/>
              </a:lnSpc>
              <a:spcAft>
                <a:spcPts val="600"/>
              </a:spcAft>
              <a:buClr>
                <a:srgbClr val="000000"/>
              </a:buClr>
            </a:pPr>
            <a:endParaRPr lang="pt-BR" sz="2200" strike="noStrike" spc="-1" dirty="0">
              <a:solidFill>
                <a:srgbClr val="000000"/>
              </a:solidFill>
              <a:uFill>
                <a:solidFill>
                  <a:srgbClr val="FFFFFF"/>
                </a:solidFill>
              </a:uFill>
              <a:latin typeface="Arial"/>
              <a:cs typeface="Courier New" panose="02070309020205020404" pitchFamily="49" charset="0"/>
            </a:endParaRPr>
          </a:p>
          <a:p>
            <a:pPr marL="171360" indent="-171000" algn="just">
              <a:lnSpc>
                <a:spcPct val="100000"/>
              </a:lnSpc>
              <a:spcAft>
                <a:spcPts val="600"/>
              </a:spcAft>
              <a:buClr>
                <a:srgbClr val="000000"/>
              </a:buClr>
              <a:buFont typeface="Arial"/>
              <a:buChar char="•"/>
            </a:pPr>
            <a:r>
              <a:rPr lang="pt-BR" sz="2200" spc="-1" dirty="0">
                <a:solidFill>
                  <a:srgbClr val="000000"/>
                </a:solidFill>
                <a:uFill>
                  <a:solidFill>
                    <a:srgbClr val="FFFFFF"/>
                  </a:solidFill>
                </a:uFill>
                <a:latin typeface="Arial"/>
                <a:cs typeface="Courier New" panose="02070309020205020404" pitchFamily="49" charset="0"/>
              </a:rPr>
              <a:t>Só é necessário compilar o arquivo principal que todos os arquivos importados são compilados automaticamente.</a:t>
            </a:r>
            <a:endPar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628560" lvl="1" indent="-171000" algn="just">
              <a:spcAft>
                <a:spcPts val="600"/>
              </a:spcAft>
              <a:buClr>
                <a:srgbClr val="000000"/>
              </a:buClr>
              <a:buFont typeface="Arial"/>
              <a:buChar char="•"/>
            </a:pPr>
            <a:endParaRPr lang="pt-BR" sz="2200" spc="-1" dirty="0">
              <a:solidFill>
                <a:srgbClr val="000000"/>
              </a:solidFill>
              <a:uFill>
                <a:solidFill>
                  <a:srgbClr val="FFFFFF"/>
                </a:solidFill>
              </a:uFill>
              <a:latin typeface="Arial"/>
            </a:endParaRPr>
          </a:p>
          <a:p>
            <a:pPr marL="628560" lvl="1" indent="-171000" algn="just">
              <a:spcAft>
                <a:spcPts val="600"/>
              </a:spcAft>
              <a:buClr>
                <a:srgbClr val="000000"/>
              </a:buClr>
              <a:buFont typeface="Arial"/>
              <a:buChar char="•"/>
            </a:pPr>
            <a:endParaRPr lang="pt-BR" sz="220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9449912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Classe:</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Principal estrutura da linguagem;</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Todos os tipos criados pelo programador são classes;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Pode ser pública, privada ou de pacote (quando sem indicação);</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Cada arquivo possui apenas uma classe pública e ela da nome ao arquivo;</a:t>
            </a:r>
          </a:p>
          <a:p>
            <a:pPr marL="360" algn="just">
              <a:lnSpc>
                <a:spcPct val="100000"/>
              </a:lnSpc>
              <a:spcAft>
                <a:spcPts val="600"/>
              </a:spcAft>
              <a:buClr>
                <a:srgbClr val="000000"/>
              </a:buClr>
            </a:pPr>
            <a:endPar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360" algn="just">
              <a:lnSpc>
                <a:spcPct val="100000"/>
              </a:lnSpc>
              <a:spcAft>
                <a:spcPts val="600"/>
              </a:spcAft>
              <a:buClr>
                <a:srgbClr val="000000"/>
              </a:buClr>
            </a:pP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class</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Pessoa {</a:t>
            </a:r>
          </a:p>
          <a:p>
            <a:pPr marL="360" algn="just">
              <a:lnSpc>
                <a:spcPct val="100000"/>
              </a:lnSpc>
              <a:spcAft>
                <a:spcPts val="600"/>
              </a:spcAft>
              <a:buClr>
                <a:srgbClr val="000000"/>
              </a:buClr>
            </a:pP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private</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nome;</a:t>
            </a:r>
          </a:p>
          <a:p>
            <a:pPr marL="360" algn="just">
              <a:lnSpc>
                <a:spcPct val="100000"/>
              </a:lnSpc>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getNome</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return</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nome; }</a:t>
            </a:r>
          </a:p>
          <a:p>
            <a:pPr marL="360" algn="just">
              <a:lnSpc>
                <a:spcPct val="100000"/>
              </a:lnSpc>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setNome</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n) { nome = n; }</a:t>
            </a:r>
            <a:endPar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360" algn="just">
              <a:lnSpc>
                <a:spcPct val="100000"/>
              </a:lnSpc>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628560" lvl="1" indent="-171000" algn="just">
              <a:spcAft>
                <a:spcPts val="600"/>
              </a:spcAft>
              <a:buClr>
                <a:srgbClr val="000000"/>
              </a:buClr>
              <a:buFont typeface="Arial"/>
              <a:buChar char="•"/>
            </a:pPr>
            <a:endParaRPr lang="pt-BR" sz="2200" spc="-1" dirty="0">
              <a:solidFill>
                <a:srgbClr val="000000"/>
              </a:solidFill>
              <a:uFill>
                <a:solidFill>
                  <a:srgbClr val="FFFFFF"/>
                </a:solidFill>
              </a:uFill>
              <a:latin typeface="Arial"/>
            </a:endParaRPr>
          </a:p>
          <a:p>
            <a:pPr marL="628560" lvl="1" indent="-171000" algn="just">
              <a:spcAft>
                <a:spcPts val="600"/>
              </a:spcAft>
              <a:buClr>
                <a:srgbClr val="000000"/>
              </a:buClr>
              <a:buFont typeface="Arial"/>
              <a:buChar char="•"/>
            </a:pPr>
            <a:endParaRPr lang="pt-BR" sz="220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331340882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Classe:</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Modificadores de acesso dos membros:</a:t>
            </a:r>
          </a:p>
          <a:p>
            <a:pPr marL="1085760" lvl="2" indent="-171000" algn="just">
              <a:spcAft>
                <a:spcPts val="600"/>
              </a:spcAft>
              <a:buClr>
                <a:srgbClr val="000000"/>
              </a:buClr>
              <a:buFont typeface="Arial"/>
              <a:buChar char="•"/>
            </a:pPr>
            <a:r>
              <a:rPr lang="pt-BR" sz="2200" spc="-1" dirty="0" err="1">
                <a:solidFill>
                  <a:srgbClr val="000000"/>
                </a:solidFill>
                <a:uFill>
                  <a:solidFill>
                    <a:srgbClr val="FFFFFF"/>
                  </a:solidFill>
                </a:uFill>
                <a:latin typeface="Arial"/>
              </a:rPr>
              <a:t>private</a:t>
            </a:r>
            <a:r>
              <a:rPr lang="pt-BR" sz="2200" spc="-1" dirty="0">
                <a:solidFill>
                  <a:srgbClr val="000000"/>
                </a:solidFill>
                <a:uFill>
                  <a:solidFill>
                    <a:srgbClr val="FFFFFF"/>
                  </a:solidFill>
                </a:uFill>
                <a:latin typeface="Arial"/>
              </a:rPr>
              <a:t>: acessível somente dentro da própria classe;</a:t>
            </a:r>
          </a:p>
          <a:p>
            <a:pPr marL="1085760" lvl="2" indent="-171000" algn="just">
              <a:spcAft>
                <a:spcPts val="600"/>
              </a:spcAft>
              <a:buClr>
                <a:srgbClr val="000000"/>
              </a:buClr>
              <a:buFont typeface="Arial"/>
              <a:buChar char="•"/>
            </a:pPr>
            <a:r>
              <a:rPr lang="pt-BR" sz="2200" spc="-1" dirty="0" err="1">
                <a:solidFill>
                  <a:srgbClr val="000000"/>
                </a:solidFill>
                <a:uFill>
                  <a:solidFill>
                    <a:srgbClr val="FFFFFF"/>
                  </a:solidFill>
                </a:uFill>
                <a:latin typeface="Arial"/>
              </a:rPr>
              <a:t>public</a:t>
            </a:r>
            <a:r>
              <a:rPr lang="pt-BR" sz="2200" spc="-1" dirty="0">
                <a:solidFill>
                  <a:srgbClr val="000000"/>
                </a:solidFill>
                <a:uFill>
                  <a:solidFill>
                    <a:srgbClr val="FFFFFF"/>
                  </a:solidFill>
                </a:uFill>
                <a:latin typeface="Arial"/>
              </a:rPr>
              <a:t>: acessível dentro e fora da classe;</a:t>
            </a:r>
          </a:p>
          <a:p>
            <a:pPr marL="1085760" lvl="2" indent="-171000" algn="just">
              <a:spcAft>
                <a:spcPts val="600"/>
              </a:spcAft>
              <a:buClr>
                <a:srgbClr val="000000"/>
              </a:buClr>
              <a:buFont typeface="Arial"/>
              <a:buChar char="•"/>
            </a:pPr>
            <a:r>
              <a:rPr lang="pt-BR" sz="2200" spc="-1" dirty="0" err="1">
                <a:solidFill>
                  <a:srgbClr val="000000"/>
                </a:solidFill>
                <a:uFill>
                  <a:solidFill>
                    <a:srgbClr val="FFFFFF"/>
                  </a:solidFill>
                </a:uFill>
                <a:latin typeface="Arial"/>
              </a:rPr>
              <a:t>protected</a:t>
            </a:r>
            <a:r>
              <a:rPr lang="pt-BR" sz="2200" spc="-1" dirty="0">
                <a:solidFill>
                  <a:srgbClr val="000000"/>
                </a:solidFill>
                <a:uFill>
                  <a:solidFill>
                    <a:srgbClr val="FFFFFF"/>
                  </a:solidFill>
                </a:uFill>
                <a:latin typeface="Arial"/>
              </a:rPr>
              <a:t>: acessível na própria classe, nas subclasses e nas classes do mesmo pacote;</a:t>
            </a:r>
          </a:p>
          <a:p>
            <a:pPr marL="1085760" lvl="2"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de pacote (quando nenhum modificador é especificado): acessível nas classes do mesmo pacotes.</a:t>
            </a:r>
          </a:p>
          <a:p>
            <a:pPr marL="628560" lvl="1" indent="-171000" algn="just">
              <a:spcAft>
                <a:spcPts val="600"/>
              </a:spcAft>
              <a:buClr>
                <a:srgbClr val="000000"/>
              </a:buClr>
              <a:buFont typeface="Arial"/>
              <a:buChar char="•"/>
            </a:pPr>
            <a:endParaRPr lang="pt-BR" sz="220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107271981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Atributos e métodos de classe</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Atributos e métodos estáticos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static</a:t>
            </a:r>
            <a:r>
              <a:rPr lang="pt-BR" sz="2200" spc="-1" dirty="0">
                <a:solidFill>
                  <a:srgbClr val="000000"/>
                </a:solidFill>
                <a:uFill>
                  <a:solidFill>
                    <a:srgbClr val="FFFFFF"/>
                  </a:solidFill>
                </a:uFill>
                <a:latin typeface="Arial"/>
              </a:rPr>
              <a:t>) pertencem à classe e não aos objetos;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Só podem acessar outros membros estáticos;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São acessados a partir do nome da classe.</a:t>
            </a:r>
            <a:endPar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914760" lvl="2" algn="just">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class</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Pessoa {</a:t>
            </a:r>
          </a:p>
          <a:p>
            <a:pPr marL="914760" lvl="2" algn="just">
              <a:spcAft>
                <a:spcPts val="600"/>
              </a:spcAft>
              <a:buClr>
                <a:srgbClr val="000000"/>
              </a:buClr>
            </a:pP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private</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static</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qtd</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 0;</a:t>
            </a:r>
          </a:p>
          <a:p>
            <a:pPr marL="914760" lvl="2" algn="just">
              <a:spcAft>
                <a:spcPts val="600"/>
              </a:spcAft>
              <a:buClr>
                <a:srgbClr val="000000"/>
              </a:buClr>
            </a:pP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static</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quantasTem</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return</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qtd</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914760" lvl="2" algn="just">
              <a:spcAft>
                <a:spcPts val="600"/>
              </a:spcAft>
              <a:buClr>
                <a:srgbClr val="000000"/>
              </a:buClr>
            </a:pP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914760" lvl="2"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914760" lvl="2" algn="just">
              <a:spcAft>
                <a:spcPts val="600"/>
              </a:spcAft>
              <a:buClr>
                <a:srgbClr val="000000"/>
              </a:buClr>
            </a:pP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Pessoa.quantasTem</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628560" lvl="1" indent="-171000" algn="just">
              <a:spcAft>
                <a:spcPts val="600"/>
              </a:spcAft>
              <a:buClr>
                <a:srgbClr val="000000"/>
              </a:buClr>
              <a:buFont typeface="Arial"/>
              <a:buChar char="•"/>
            </a:pPr>
            <a:endParaRPr lang="pt-BR" sz="2200" spc="-1" dirty="0">
              <a:solidFill>
                <a:srgbClr val="000000"/>
              </a:solidFill>
              <a:uFill>
                <a:solidFill>
                  <a:srgbClr val="FFFFFF"/>
                </a:solidFill>
              </a:uFill>
              <a:latin typeface="Arial"/>
            </a:endParaRPr>
          </a:p>
          <a:p>
            <a:pPr marL="628560" lvl="1" indent="-171000" algn="just">
              <a:spcAft>
                <a:spcPts val="600"/>
              </a:spcAft>
              <a:buClr>
                <a:srgbClr val="000000"/>
              </a:buClr>
              <a:buFont typeface="Arial"/>
              <a:buChar char="•"/>
            </a:pPr>
            <a:endParaRPr lang="pt-BR" sz="220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59092699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Métodos construtores: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Cada classe pode ter um ou mais métodos construtores;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Quando um classe não tem um construtor, ela herda o construtor sem parâmetros da sua superclasse, se esta possuir.</a:t>
            </a:r>
          </a:p>
          <a:p>
            <a:pPr marL="914760" lvl="2" algn="just">
              <a:spcAft>
                <a:spcPts val="600"/>
              </a:spcAft>
              <a:buClr>
                <a:srgbClr val="000000"/>
              </a:buClr>
            </a:pP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class</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Pessoa {</a:t>
            </a:r>
          </a:p>
          <a:p>
            <a:pPr marL="914760" lvl="2" algn="just">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Pessoa() {</a:t>
            </a:r>
          </a:p>
          <a:p>
            <a:pPr marL="914760" lvl="2" algn="just">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nome = “”;</a:t>
            </a:r>
          </a:p>
          <a:p>
            <a:pPr marL="914760" lvl="2" algn="just">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914760" lvl="2" algn="just">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rPr>
              <a:t>Métodos destrutores: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Não existem métodos destrutores.</a:t>
            </a:r>
            <a:endParaRPr lang="pt-BR" sz="220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7890512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Herança:</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Definida pelo comando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extends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Não permite herança múltipla;</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Não permite alterar o modificador de acesso dos métodos sobrescritos;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Métodos com o comando </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final</a:t>
            </a:r>
            <a:r>
              <a:rPr lang="pt-BR" sz="2200" spc="-1" dirty="0">
                <a:solidFill>
                  <a:srgbClr val="000000"/>
                </a:solidFill>
                <a:uFill>
                  <a:solidFill>
                    <a:srgbClr val="FFFFFF"/>
                  </a:solidFill>
                </a:uFill>
                <a:latin typeface="Arial"/>
              </a:rPr>
              <a:t> não podem ser sobrescritos;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Métodos estáticos também não podem ser  sobrescritos, mas podem ser substituídos.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Permite o polimorfismo de métodos;</a:t>
            </a:r>
          </a:p>
          <a:p>
            <a:pPr marL="457560" lvl="1" algn="just">
              <a:spcAft>
                <a:spcPts val="600"/>
              </a:spcAft>
              <a:buClr>
                <a:srgbClr val="000000"/>
              </a:buClr>
            </a:pP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class</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PessoaFisica</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extends</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Pessoa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endPar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5264581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Classes abstratas:</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Definida pelo comando </a:t>
            </a:r>
            <a:r>
              <a:rPr lang="pt-BR" sz="22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abstract</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Toda classe que possui um método abstrato é obrigatoriamente abstrata</a:t>
            </a:r>
            <a:r>
              <a:rPr lang="pt-BR" sz="2200"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Toda classe que não sobrescreve os métodos abstratos de sua superclasse ou interfaces torna-se abstrata;</a:t>
            </a:r>
          </a:p>
          <a:p>
            <a:pPr marL="628560" lvl="1" indent="-171000" algn="just">
              <a:spcAft>
                <a:spcPts val="600"/>
              </a:spcAft>
              <a:buClr>
                <a:srgbClr val="000000"/>
              </a:buClr>
              <a:buFont typeface="Arial"/>
              <a:buChar char="•"/>
            </a:pPr>
            <a:endParaRPr lang="pt-BR" sz="2200" spc="-1" dirty="0">
              <a:solidFill>
                <a:srgbClr val="000000"/>
              </a:solidFill>
              <a:uFill>
                <a:solidFill>
                  <a:srgbClr val="FFFFFF"/>
                </a:solidFill>
              </a:uFill>
              <a:latin typeface="Arial"/>
            </a:endParaRPr>
          </a:p>
          <a:p>
            <a:pPr marL="457560" lvl="1" algn="just">
              <a:spcAft>
                <a:spcPts val="600"/>
              </a:spcAft>
              <a:buClr>
                <a:srgbClr val="000000"/>
              </a:buClr>
            </a:pP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abstract classe Pessoa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protected</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nome;</a:t>
            </a:r>
          </a:p>
          <a:p>
            <a:pPr marL="457560" lvl="1" algn="just">
              <a:spcAft>
                <a:spcPts val="600"/>
              </a:spcAft>
              <a:buClr>
                <a:srgbClr val="000000"/>
              </a:buClr>
            </a:pP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abstract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calculaIdade</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4147687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Interfaces:</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Definida pelo comando </a:t>
            </a:r>
            <a:r>
              <a:rPr lang="pt-BR" sz="22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implements</a:t>
            </a:r>
            <a:r>
              <a:rPr lang="pt-BR" sz="2200" strike="noStrike"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trike="noStrike" spc="-1" dirty="0">
                <a:solidFill>
                  <a:srgbClr val="000000"/>
                </a:solidFill>
                <a:uFill>
                  <a:solidFill>
                    <a:srgbClr val="FFFFFF"/>
                  </a:solidFill>
                </a:uFill>
                <a:latin typeface="Arial"/>
              </a:rPr>
              <a:t>Uma classe pode implementar várias interfaces;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Quando uma classe estende outra que implementa uma interface, essa interface não é herdada, mas os métodos sim;</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Desde o Java 8, é possível implementar métodos nas interfaces usando o comando </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default</a:t>
            </a:r>
            <a:r>
              <a:rPr lang="pt-BR" sz="2200" spc="-1" dirty="0">
                <a:solidFill>
                  <a:srgbClr val="000000"/>
                </a:solidFill>
                <a:uFill>
                  <a:solidFill>
                    <a:srgbClr val="FFFFFF"/>
                  </a:solidFill>
                </a:uFill>
                <a:latin typeface="Arial"/>
              </a:rPr>
              <a:t>;</a:t>
            </a:r>
          </a:p>
          <a:p>
            <a:pPr marL="457560" lvl="1" algn="just">
              <a:spcAft>
                <a:spcPts val="600"/>
              </a:spcAft>
              <a:buClr>
                <a:srgbClr val="000000"/>
              </a:buClr>
            </a:pP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interface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HelloWorld</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default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helloWorld</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Hello</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World!”);</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ublic</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hello</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trike="noStrike"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rPr>
              <a:t> nome);</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000" strike="noStrike"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9140581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Classes aninhadas: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É possível criar uma classe dentro de outra, sendo que a interna pode acessar os membros privados da externa.</a:t>
            </a:r>
          </a:p>
          <a:p>
            <a:pPr marL="457560" lvl="1" algn="just">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class</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Externa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private</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x;</a:t>
            </a:r>
          </a:p>
          <a:p>
            <a:pPr marL="457560" lvl="1" algn="just">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private</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class</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Interna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printX</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System.out.print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(x);</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200"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97711596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Orientação a Objetos</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Classes aninhadas: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Também é possível criar uma classe dentro de um método, normalmente, estendendo uma classe ou interface.</a:t>
            </a:r>
          </a:p>
          <a:p>
            <a:pPr marL="628560" lvl="1" indent="-171000" algn="just">
              <a:spcAft>
                <a:spcPts val="600"/>
              </a:spcAft>
              <a:buClr>
                <a:srgbClr val="000000"/>
              </a:buClr>
              <a:buFont typeface="Arial"/>
              <a:buChar char="•"/>
            </a:pPr>
            <a:endParaRPr lang="pt-BR" sz="2200" spc="-1" dirty="0">
              <a:solidFill>
                <a:srgbClr val="000000"/>
              </a:solidFill>
              <a:uFill>
                <a:solidFill>
                  <a:srgbClr val="FFFFFF"/>
                </a:solidFill>
              </a:uFill>
              <a:latin typeface="Arial"/>
            </a:endParaRPr>
          </a:p>
          <a:p>
            <a:pPr marL="360">
              <a:spcAft>
                <a:spcPts val="600"/>
              </a:spcAft>
              <a:buClr>
                <a:srgbClr val="000000"/>
              </a:buClr>
            </a:pP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ordenaDecrescente</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List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&lt;</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Integer</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&gt; lista) {</a:t>
            </a:r>
          </a:p>
          <a:p>
            <a:pPr marL="360">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Collections.sort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(lista, </a:t>
            </a:r>
          </a:p>
          <a:p>
            <a:pPr marL="360">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new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Comparator</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&lt;</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Integer</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&gt;() {</a:t>
            </a:r>
          </a:p>
          <a:p>
            <a:pPr marL="360">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compare(</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Integer</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Integer</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b) {</a:t>
            </a:r>
          </a:p>
          <a:p>
            <a:pPr marL="360">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000" spc="-1" dirty="0" err="1">
                <a:solidFill>
                  <a:srgbClr val="000000"/>
                </a:solidFill>
                <a:uFill>
                  <a:solidFill>
                    <a:srgbClr val="FFFFFF"/>
                  </a:solidFill>
                </a:uFill>
                <a:latin typeface="Courier New" panose="02070309020205020404" pitchFamily="49" charset="0"/>
                <a:cs typeface="Courier New" panose="02070309020205020404" pitchFamily="49" charset="0"/>
              </a:rPr>
              <a:t>return</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b – a;</a:t>
            </a:r>
          </a:p>
          <a:p>
            <a:pPr marL="360">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672381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Tratamento de Exceção</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Informações gerais: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Para garantir maior confiabilidade, Java embute alguns tratamentos de exceção no arquivo compilado. Ex.: para verificar o índice dos vetores;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Toda exceção é uma subclasse de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Exception</a:t>
            </a:r>
            <a:r>
              <a:rPr lang="pt-BR" sz="2200"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Após uma exceção, o código retorna sua execução a partir da instrução seguinte ao tratador de exceções;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O comando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throw</a:t>
            </a:r>
            <a:r>
              <a:rPr lang="pt-BR" sz="2200" spc="-1" dirty="0">
                <a:solidFill>
                  <a:srgbClr val="000000"/>
                </a:solidFill>
                <a:uFill>
                  <a:solidFill>
                    <a:srgbClr val="FFFFFF"/>
                  </a:solidFill>
                </a:uFill>
                <a:latin typeface="Arial"/>
              </a:rPr>
              <a:t> permite lançar uma exceção pré-definida pela linguagem a qualquer momento;</a:t>
            </a:r>
          </a:p>
          <a:p>
            <a:pPr marL="457560" lvl="1" algn="just">
              <a:spcAft>
                <a:spcPts val="600"/>
              </a:spcAft>
              <a:buClr>
                <a:srgbClr val="000000"/>
              </a:buClr>
            </a:pPr>
            <a:endParaRPr lang="pt-BR" sz="2200" spc="-1" dirty="0">
              <a:solidFill>
                <a:srgbClr val="000000"/>
              </a:solidFill>
              <a:uFill>
                <a:solidFill>
                  <a:srgbClr val="FFFFFF"/>
                </a:solidFill>
              </a:uFill>
              <a:latin typeface="Arial"/>
            </a:endParaRPr>
          </a:p>
          <a:p>
            <a:pPr marL="457560" lvl="1" algn="just">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for (char c: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str</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457560" lvl="1" algn="just">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if</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Character.isDigit</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(c))</a:t>
            </a:r>
          </a:p>
          <a:p>
            <a:pPr marL="457560" lvl="1" algn="just">
              <a:spcAft>
                <a:spcPts val="600"/>
              </a:spcAft>
              <a:buClr>
                <a:srgbClr val="000000"/>
              </a:buClr>
            </a:pP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throw</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 new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NumberFormatException</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49887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Tratamento de Exceção</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Formas de Tratamento:</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Dentro do próprio método, usando o comando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try</a:t>
            </a:r>
            <a:r>
              <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rPr>
              <a:t>-catch</a:t>
            </a:r>
            <a:r>
              <a:rPr lang="pt-BR" sz="2200" spc="-1" dirty="0">
                <a:solidFill>
                  <a:srgbClr val="000000"/>
                </a:solidFill>
                <a:uFill>
                  <a:solidFill>
                    <a:srgbClr val="FFFFFF"/>
                  </a:solidFill>
                </a:uFill>
                <a:latin typeface="Aria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O comando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finally</a:t>
            </a:r>
            <a:r>
              <a:rPr lang="pt-BR" sz="2200" spc="-1" dirty="0">
                <a:solidFill>
                  <a:srgbClr val="000000"/>
                </a:solidFill>
                <a:uFill>
                  <a:solidFill>
                    <a:srgbClr val="FFFFFF"/>
                  </a:solidFill>
                </a:uFill>
                <a:latin typeface="Arial"/>
              </a:rPr>
              <a:t> pode ser usando opcionalmente.</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latin typeface="Arial"/>
              </a:rPr>
              <a:t>É possível tratar mais de uma exceção por vez e também definir um mesmo tratamento para mais de um tipo de exceção;</a:t>
            </a:r>
          </a:p>
          <a:p>
            <a:pPr marL="360">
              <a:spcAft>
                <a:spcPts val="600"/>
              </a:spcAft>
              <a:buClr>
                <a:srgbClr val="000000"/>
              </a:buClr>
            </a:pP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static</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void</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executar(</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Method</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metodo</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vetor)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try</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metodo.invoke</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null</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new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Object</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vetor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catch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IllegalAccessException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e)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throw</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new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RuntimeException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(e);</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 catch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Exception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e)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throw</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new </a:t>
            </a:r>
            <a:r>
              <a:rPr lang="pt-BR" spc="-1" dirty="0" err="1">
                <a:solidFill>
                  <a:srgbClr val="000000"/>
                </a:solidFill>
                <a:uFill>
                  <a:solidFill>
                    <a:srgbClr val="FFFFFF"/>
                  </a:solidFill>
                </a:uFill>
                <a:latin typeface="Courier New" panose="02070309020205020404" pitchFamily="49" charset="0"/>
                <a:cs typeface="Courier New" panose="02070309020205020404" pitchFamily="49" charset="0"/>
              </a:rPr>
              <a:t>RuntimeException</a:t>
            </a: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(e);</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2027868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Tratamento de Exceção</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Formas de Tratamento:</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No método que invocou o que lançou a exceção, usando o comando </a:t>
            </a:r>
            <a:r>
              <a:rPr lang="pt-BR" sz="2200" spc="-1" dirty="0" err="1">
                <a:solidFill>
                  <a:srgbClr val="000000"/>
                </a:solidFill>
                <a:uFill>
                  <a:solidFill>
                    <a:srgbClr val="FFFFFF"/>
                  </a:solidFill>
                </a:uFill>
                <a:latin typeface="Courier New" panose="02070309020205020404" pitchFamily="49" charset="0"/>
                <a:cs typeface="Courier New" panose="02070309020205020404" pitchFamily="49" charset="0"/>
              </a:rPr>
              <a:t>throws</a:t>
            </a:r>
            <a:r>
              <a:rPr lang="pt-BR" sz="2200" spc="-1" dirty="0">
                <a:solidFill>
                  <a:srgbClr val="000000"/>
                </a:solidFill>
                <a:uFill>
                  <a:solidFill>
                    <a:srgbClr val="FFFFFF"/>
                  </a:solidFill>
                </a:uFill>
              </a:rPr>
              <a:t>;</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Neste caso, o tratador deve ficar no método que invoca aquele que lança exceção, ou a exceção deve ser repassada novamente;</a:t>
            </a:r>
          </a:p>
          <a:p>
            <a:pPr marL="628560" lvl="1" indent="-171000" algn="just">
              <a:spcAft>
                <a:spcPts val="600"/>
              </a:spcAft>
              <a:buClr>
                <a:srgbClr val="000000"/>
              </a:buClr>
              <a:buFont typeface="Arial"/>
              <a:buChar char="•"/>
            </a:pPr>
            <a:endPar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360">
              <a:spcAft>
                <a:spcPts val="600"/>
              </a:spcAft>
              <a:buClr>
                <a:srgbClr val="000000"/>
              </a:buClr>
            </a:pP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int</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converte(</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num)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throws</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NumberFormatException</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spcAft>
                <a:spcPts val="600"/>
              </a:spcAft>
              <a:buClr>
                <a:srgbClr val="000000"/>
              </a:buClr>
            </a:pP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return</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Integer.parseInt</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(num);</a:t>
            </a:r>
          </a:p>
          <a:p>
            <a:pPr marL="360">
              <a:spcAft>
                <a:spcPts val="600"/>
              </a:spcAft>
              <a:buClr>
                <a:srgbClr val="000000"/>
              </a:buClr>
            </a:pP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a:t>
            </a:r>
          </a:p>
          <a:p>
            <a:pPr marL="457560" lvl="1" algn="just">
              <a:spcAft>
                <a:spcPts val="600"/>
              </a:spcAft>
              <a:buClr>
                <a:srgbClr val="000000"/>
              </a:buClr>
            </a:pPr>
            <a:endParaRPr lang="pt-BR" sz="2200" spc="-1" dirty="0">
              <a:solidFill>
                <a:srgbClr val="000000"/>
              </a:solidFill>
              <a:uFill>
                <a:solidFill>
                  <a:srgbClr val="FFFFFF"/>
                </a:solidFill>
              </a:uFill>
            </a:endParaRPr>
          </a:p>
          <a:p>
            <a:pPr marL="360">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8536508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Tratamento de Exceção</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171360" indent="-171000" algn="just">
              <a:lnSpc>
                <a:spcPct val="100000"/>
              </a:lnSpc>
              <a:spcAft>
                <a:spcPts val="600"/>
              </a:spcAft>
              <a:buClr>
                <a:srgbClr val="000000"/>
              </a:buClr>
              <a:buFont typeface="Arial"/>
              <a:buChar char="•"/>
            </a:pPr>
            <a:r>
              <a:rPr lang="pt-BR" sz="2200" b="1" spc="-1" dirty="0">
                <a:solidFill>
                  <a:srgbClr val="000000"/>
                </a:solidFill>
                <a:uFill>
                  <a:solidFill>
                    <a:srgbClr val="FFFFFF"/>
                  </a:solidFill>
                </a:uFill>
                <a:latin typeface="Arial"/>
              </a:rPr>
              <a:t>Definição de exceções:</a:t>
            </a:r>
          </a:p>
          <a:p>
            <a:pPr marL="628560" lvl="1" indent="-171000" algn="just">
              <a:spcAft>
                <a:spcPts val="600"/>
              </a:spcAft>
              <a:buClr>
                <a:srgbClr val="000000"/>
              </a:buClr>
              <a:buFont typeface="Arial"/>
              <a:buChar char="•"/>
            </a:pPr>
            <a:r>
              <a:rPr lang="pt-BR" sz="2200" spc="-1" dirty="0">
                <a:solidFill>
                  <a:srgbClr val="000000"/>
                </a:solidFill>
                <a:uFill>
                  <a:solidFill>
                    <a:srgbClr val="FFFFFF"/>
                  </a:solidFill>
                </a:uFill>
              </a:rPr>
              <a:t>É possível definir novas exceções estendo as classes existentes;</a:t>
            </a:r>
          </a:p>
          <a:p>
            <a:pPr marL="628560" lvl="1" indent="-171000" algn="just">
              <a:spcAft>
                <a:spcPts val="600"/>
              </a:spcAft>
              <a:buClr>
                <a:srgbClr val="000000"/>
              </a:buClr>
              <a:buFont typeface="Arial"/>
              <a:buChar char="•"/>
            </a:pPr>
            <a:endParaRPr lang="pt-BR" sz="22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360">
              <a:spcAft>
                <a:spcPts val="600"/>
              </a:spcAft>
              <a:buClr>
                <a:srgbClr val="000000"/>
              </a:buClr>
            </a:pP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class</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ItsNotANumberException</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extends</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Exception</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public</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ItsNotANumberException</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String</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s) {</a:t>
            </a:r>
          </a:p>
          <a:p>
            <a:pPr marL="360">
              <a:spcAft>
                <a:spcPts val="600"/>
              </a:spcAft>
              <a:buClr>
                <a:srgbClr val="000000"/>
              </a:buClr>
            </a:pP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r>
              <a:rPr lang="pt-BR" sz="1900" spc="-1" dirty="0" err="1">
                <a:solidFill>
                  <a:srgbClr val="000000"/>
                </a:solidFill>
                <a:uFill>
                  <a:solidFill>
                    <a:srgbClr val="FFFFFF"/>
                  </a:solidFill>
                </a:uFill>
                <a:latin typeface="Courier New" panose="02070309020205020404" pitchFamily="49" charset="0"/>
                <a:cs typeface="Courier New" panose="02070309020205020404" pitchFamily="49" charset="0"/>
              </a:rPr>
              <a:t>super</a:t>
            </a: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+s + "\" não é um número.");</a:t>
            </a:r>
          </a:p>
          <a:p>
            <a:pPr marL="360">
              <a:spcAft>
                <a:spcPts val="600"/>
              </a:spcAft>
              <a:buClr>
                <a:srgbClr val="000000"/>
              </a:buClr>
            </a:pP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360">
              <a:spcAft>
                <a:spcPts val="600"/>
              </a:spcAft>
              <a:buClr>
                <a:srgbClr val="000000"/>
              </a:buClr>
            </a:pPr>
            <a:endPar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360">
              <a:spcAft>
                <a:spcPts val="600"/>
              </a:spcAft>
              <a:buClr>
                <a:srgbClr val="000000"/>
              </a:buClr>
            </a:pPr>
            <a:r>
              <a:rPr lang="pt-BR" sz="1900" spc="-1" dirty="0">
                <a:solidFill>
                  <a:srgbClr val="000000"/>
                </a:solidFill>
                <a:uFill>
                  <a:solidFill>
                    <a:srgbClr val="FFFFFF"/>
                  </a:solidFill>
                </a:uFill>
                <a:latin typeface="Courier New" panose="02070309020205020404" pitchFamily="49" charset="0"/>
                <a:cs typeface="Courier New" panose="02070309020205020404" pitchFamily="49" charset="0"/>
              </a:rPr>
              <a:t>}</a:t>
            </a:r>
            <a:endParaRPr lang="pt-BR" sz="2200" spc="-1" dirty="0">
              <a:solidFill>
                <a:srgbClr val="000000"/>
              </a:solidFill>
              <a:uFill>
                <a:solidFill>
                  <a:srgbClr val="FFFFFF"/>
                </a:solidFill>
              </a:uFill>
            </a:endParaRPr>
          </a:p>
          <a:p>
            <a:pPr marL="360">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4025016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139680" y="149400"/>
            <a:ext cx="8851680" cy="1325160"/>
          </a:xfrm>
          <a:prstGeom prst="rect">
            <a:avLst/>
          </a:prstGeom>
          <a:noFill/>
          <a:ln>
            <a:noFill/>
          </a:ln>
        </p:spPr>
        <p:txBody>
          <a:bodyPr anchor="ctr"/>
          <a:lstStyle/>
          <a:p>
            <a:pPr>
              <a:lnSpc>
                <a:spcPct val="90000"/>
              </a:lnSpc>
            </a:pPr>
            <a:r>
              <a:rPr lang="pt-BR" sz="3300" b="1" strike="noStrike" spc="-1" dirty="0">
                <a:solidFill>
                  <a:srgbClr val="000000"/>
                </a:solidFill>
                <a:uFill>
                  <a:solidFill>
                    <a:srgbClr val="FFFFFF"/>
                  </a:solidFill>
                </a:uFill>
                <a:latin typeface="Arial"/>
              </a:rPr>
              <a:t>Gerenciamento de Memória</a:t>
            </a:r>
            <a:endParaRPr lang="pt-BR" sz="1800" b="0" strike="noStrike" spc="-1" dirty="0">
              <a:solidFill>
                <a:srgbClr val="000000"/>
              </a:solidFill>
              <a:uFill>
                <a:solidFill>
                  <a:srgbClr val="FFFFFF"/>
                </a:solidFill>
              </a:uFill>
              <a:latin typeface="Calibri"/>
            </a:endParaRPr>
          </a:p>
        </p:txBody>
      </p:sp>
      <p:sp>
        <p:nvSpPr>
          <p:cNvPr id="90" name="TextShape 2"/>
          <p:cNvSpPr txBox="1"/>
          <p:nvPr/>
        </p:nvSpPr>
        <p:spPr>
          <a:xfrm>
            <a:off x="139680" y="1626120"/>
            <a:ext cx="8851680" cy="5231880"/>
          </a:xfrm>
          <a:prstGeom prst="rect">
            <a:avLst/>
          </a:prstGeom>
          <a:noFill/>
          <a:ln>
            <a:noFill/>
          </a:ln>
        </p:spPr>
        <p:txBody>
          <a:bodyPr/>
          <a:lstStyle/>
          <a:p>
            <a:pPr marL="0" indent="0" algn="just">
              <a:buNone/>
            </a:pPr>
            <a:r>
              <a:rPr lang="pt-BR" sz="2200" dirty="0"/>
              <a:t>Java utiliza o algoritmo Geracional, que é uma combinação do Marcar-Compactar e o Coleta de Cópias. Além disso, os objetos possuem um atributo de idade (contador de ciclos de coleta). </a:t>
            </a:r>
          </a:p>
          <a:p>
            <a:pPr marL="0" indent="0" algn="just">
              <a:buNone/>
            </a:pPr>
            <a:endParaRPr lang="pt-BR" sz="2200" dirty="0"/>
          </a:p>
          <a:p>
            <a:pPr marL="0" indent="0" algn="just">
              <a:buNone/>
            </a:pPr>
            <a:r>
              <a:rPr lang="pt-BR" sz="2200" dirty="0"/>
              <a:t>O Marcar-Compactar é uma variação do Marcar-Varrer com um passo intermediário de deslocar os objetos válidos para o início da </a:t>
            </a:r>
            <a:r>
              <a:rPr lang="pt-BR" sz="2200" dirty="0" err="1"/>
              <a:t>Heap</a:t>
            </a:r>
            <a:r>
              <a:rPr lang="pt-BR" sz="2200" dirty="0"/>
              <a:t>.</a:t>
            </a:r>
          </a:p>
          <a:p>
            <a:pPr marL="360">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a:p>
            <a:pPr marL="457560" lvl="1" algn="just">
              <a:spcAft>
                <a:spcPts val="600"/>
              </a:spcAft>
              <a:buClr>
                <a:srgbClr val="000000"/>
              </a:buClr>
            </a:pPr>
            <a:r>
              <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rPr>
              <a:t>  </a:t>
            </a:r>
          </a:p>
          <a:p>
            <a:pPr marL="457560" lvl="1" algn="just">
              <a:spcAft>
                <a:spcPts val="600"/>
              </a:spcAft>
              <a:buClr>
                <a:srgbClr val="000000"/>
              </a:buClr>
            </a:pPr>
            <a:endParaRPr lang="pt-BR" sz="2000" spc="-1" dirty="0">
              <a:solidFill>
                <a:srgbClr val="000000"/>
              </a:solidFill>
              <a:uFill>
                <a:solidFill>
                  <a:srgbClr val="FFFFFF"/>
                </a:solidFill>
              </a:uFill>
              <a:latin typeface="Courier New" panose="02070309020205020404" pitchFamily="49" charset="0"/>
              <a:cs typeface="Courier New" panose="02070309020205020404" pitchFamily="49" charset="0"/>
            </a:endParaRPr>
          </a:p>
        </p:txBody>
      </p:sp>
      <p:pic>
        <p:nvPicPr>
          <p:cNvPr id="2" name="Imagem 1">
            <a:extLst>
              <a:ext uri="{FF2B5EF4-FFF2-40B4-BE49-F238E27FC236}">
                <a16:creationId xmlns:a16="http://schemas.microsoft.com/office/drawing/2014/main" id="{8B20A568-015C-9A47-D0E5-7819AE76C8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130" y="4092971"/>
            <a:ext cx="6949740" cy="2615629"/>
          </a:xfrm>
          <a:prstGeom prst="rect">
            <a:avLst/>
          </a:prstGeom>
        </p:spPr>
      </p:pic>
    </p:spTree>
    <p:extLst>
      <p:ext uri="{BB962C8B-B14F-4D97-AF65-F5344CB8AC3E}">
        <p14:creationId xmlns:p14="http://schemas.microsoft.com/office/powerpoint/2010/main" val="397870348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666</TotalTime>
  <Words>3652</Words>
  <Application>Microsoft Office PowerPoint</Application>
  <PresentationFormat>Apresentação na tela (4:3)</PresentationFormat>
  <Paragraphs>507</Paragraphs>
  <Slides>49</Slides>
  <Notes>0</Notes>
  <HiddenSlides>0</HiddenSlides>
  <MMClips>0</MMClips>
  <ScaleCrop>false</ScaleCrop>
  <HeadingPairs>
    <vt:vector size="6" baseType="variant">
      <vt:variant>
        <vt:lpstr>Fontes usadas</vt:lpstr>
      </vt:variant>
      <vt:variant>
        <vt:i4>7</vt:i4>
      </vt:variant>
      <vt:variant>
        <vt:lpstr>Tema</vt:lpstr>
      </vt:variant>
      <vt:variant>
        <vt:i4>2</vt:i4>
      </vt:variant>
      <vt:variant>
        <vt:lpstr>Títulos de slides</vt:lpstr>
      </vt:variant>
      <vt:variant>
        <vt:i4>49</vt:i4>
      </vt:variant>
    </vt:vector>
  </HeadingPairs>
  <TitlesOfParts>
    <vt:vector size="58" baseType="lpstr">
      <vt:lpstr>Arial</vt:lpstr>
      <vt:lpstr>Calibri</vt:lpstr>
      <vt:lpstr>Courier New</vt:lpstr>
      <vt:lpstr>Lucida Sans Unicode</vt:lpstr>
      <vt:lpstr>Symbol</vt:lpstr>
      <vt:lpstr>Times New Roman</vt:lpstr>
      <vt:lpstr>Wingdings</vt:lpstr>
      <vt:lpstr>Office Theme</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Conceitos da Linguagem Java</dc:title>
  <dc:subject/>
  <dc:creator>Matheus Viana</dc:creator>
  <dc:description/>
  <cp:lastModifiedBy>Matheus Carvalho Viana</cp:lastModifiedBy>
  <cp:revision>69</cp:revision>
  <dcterms:created xsi:type="dcterms:W3CDTF">2017-03-24T11:38:52Z</dcterms:created>
  <dcterms:modified xsi:type="dcterms:W3CDTF">2023-12-01T18:33:40Z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Apresentação na tela (4:3)</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